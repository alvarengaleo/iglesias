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6B55-83D9-19B7-6454-252DD0366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59482-D900-0D92-9DA9-1DBFADD52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A832-A1CC-C611-481A-61DDC1E9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16FD-9EB7-F9E2-9B7B-1C73550F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05732-CF53-907B-C55E-CB68D704A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D512-4CF8-9C1B-3C03-6D2ACDCA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1C17-0326-7004-F953-71D6F366C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F39B-4EBB-2E36-292D-9BC6EDDE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D5B15-F567-BB54-8FF2-54407570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612E7-D745-5D94-5E62-60C19C9F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9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E7EF-1077-E15F-083B-EF5D5D94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F65CE-2633-6856-CB03-BC4151805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9E726-808F-6420-3605-FAAB7E06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F40B3-A235-168E-8368-BEED5997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A5764-3282-9ED1-2AB4-AC025CB3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0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AB55-F06B-6CCA-9BF6-77139244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580A0-96EF-CE4B-DBA5-31EF2B075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4BC1C-8DA0-EF62-E922-75AF872A5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2126D-09DA-4786-0080-AB762017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2575-A790-0FF7-6E27-59EC18DF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CD71D-6FFC-94AE-25DD-E476DE78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6F98-FB6D-F440-5282-D0BA065B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EF26-427A-85DB-5E3D-D20D5B736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8E663-03CF-E3D0-9162-A178CE9B3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42CE7E-C9B8-0602-47D6-A9E67A7D1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ABDCC-FB40-284D-DBA4-E4AFD1459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DD7FE-C319-0373-05B6-6812C264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3A971-3BC1-6F00-2C12-0F4A0AFE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7F6C5-6BBD-84CF-5CFE-55C81ABF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A1D3-7745-F8BC-128F-B78284A6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43E77-8A44-3033-64E6-F25090AE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E816E-1A34-2653-DC0F-7E28E145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06613-D413-BB18-AAA3-922F3F46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1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C3789-E60F-79BE-9B45-5C74E7F9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53AB4-02B8-7820-04F2-48E5DDBE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326C5-1451-B5A0-2F7A-29636431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C1C2-1323-9EC9-9F5D-299CD427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1A1B-6B91-4C75-93EA-70366EF09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65BDA-3B2C-FF66-E68B-0BFEA70E2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9F31F-2050-89D1-85F6-E0E7F75E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7BDC2-D64B-430C-57C8-9C8CCB36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A9984-2DB0-49B1-3FF8-D7F51D08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89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27F9-B93E-BC97-4FB5-8572B99B4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0798C-D1CC-A5AA-DD35-AFA1CF88E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ABE09-0AC1-8D89-0EDE-300356699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B1DC3-4B75-B5A6-C0C7-9A6AC9BA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A54C8-960C-486B-84B1-63E91A8D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26C95-C801-CF57-250E-633500D8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2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0BDA-2C2F-AC42-CE39-FFA702CE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D563-851D-B405-AF28-E01E47B01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D25C8-2429-C03B-3791-EB54DCE2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8EC9A-F432-5350-0816-661292DE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C5A4-E529-6CAA-D93E-2892C642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0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653C0-049C-9924-1573-7BA5A3385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E971D-78D8-C92E-1012-F876B87B2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5694C-481A-F2F3-8A49-6618E958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87276-6545-E938-7B08-9F51EE0C5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E7FF3-8B78-EA4F-7A01-87EBD1F4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5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C7E25-1ACD-77F4-0248-68F99154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92BC-0571-3A93-5E7C-80DC1F124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8AB4C-849D-0BFE-4B13-B9FB076A7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2E832-4476-41FB-A0AC-3CA17CBCF43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57792-7C64-7405-CD86-8B08E035E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8D810-60B0-B4DB-5A9A-434C4DF3D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CB3A7-472E-483D-B235-5AC4CAF4B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4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6EDE64-DE7B-6DAA-07F5-A2F98FC29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4A184-F53F-297C-A824-2F3449AAE8C7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A98580-9318-225C-C012-0A3C04B6E6AA}"/>
              </a:ext>
            </a:extLst>
          </p:cNvPr>
          <p:cNvSpPr/>
          <p:nvPr/>
        </p:nvSpPr>
        <p:spPr>
          <a:xfrm>
            <a:off x="4064000" y="0"/>
            <a:ext cx="76200" cy="68580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26A81-2D33-F3D6-37C2-E4E6E2880282}"/>
              </a:ext>
            </a:extLst>
          </p:cNvPr>
          <p:cNvSpPr txBox="1"/>
          <p:nvPr/>
        </p:nvSpPr>
        <p:spPr>
          <a:xfrm>
            <a:off x="508000" y="1016000"/>
            <a:ext cx="304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C38C"/>
                </a:solidFill>
                <a:latin typeface="Segoe UI" panose="020B0502040204020203" pitchFamily="34" charset="0"/>
              </a:rPr>
              <a:t>DOCUMENTO COMERCIAL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2A1A4A-ECD6-BC8E-9677-2D3A1F231135}"/>
              </a:ext>
            </a:extLst>
          </p:cNvPr>
          <p:cNvSpPr txBox="1"/>
          <p:nvPr/>
        </p:nvSpPr>
        <p:spPr>
          <a:xfrm>
            <a:off x="508000" y="1270000"/>
            <a:ext cx="304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C38C"/>
                </a:solidFill>
                <a:latin typeface="Segoe UI" panose="020B0502040204020203" pitchFamily="34" charset="0"/>
              </a:rPr>
              <a:t>ESTRATEGICO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E4B77-020B-4802-2418-176F5F961C10}"/>
              </a:ext>
            </a:extLst>
          </p:cNvPr>
          <p:cNvSpPr txBox="1"/>
          <p:nvPr/>
        </p:nvSpPr>
        <p:spPr>
          <a:xfrm>
            <a:off x="508000" y="2540000"/>
            <a:ext cx="3048000" cy="12858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600" b="1">
                <a:solidFill>
                  <a:srgbClr val="FFFFFF"/>
                </a:solidFill>
                <a:latin typeface="Segoe UI Light" panose="020B0502040204020203" pitchFamily="34" charset="0"/>
              </a:rPr>
              <a:t>Sistema de
Administracion
para Iglesias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6B816-B342-08ED-D476-A322BBADE817}"/>
              </a:ext>
            </a:extLst>
          </p:cNvPr>
          <p:cNvSpPr txBox="1"/>
          <p:nvPr/>
        </p:nvSpPr>
        <p:spPr>
          <a:xfrm>
            <a:off x="508000" y="58420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DCC38C"/>
                </a:solidFill>
                <a:latin typeface="Segoe UI" panose="020B0502040204020203" pitchFamily="34" charset="0"/>
              </a:rPr>
              <a:t>ORDEN  Â·  TRANSPARENCIA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7E82-BFC3-5242-C9B9-5E0F503F9975}"/>
              </a:ext>
            </a:extLst>
          </p:cNvPr>
          <p:cNvSpPr txBox="1"/>
          <p:nvPr/>
        </p:nvSpPr>
        <p:spPr>
          <a:xfrm>
            <a:off x="508000" y="60706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DCC38C"/>
                </a:solidFill>
                <a:latin typeface="Segoe UI" panose="020B0502040204020203" pitchFamily="34" charset="0"/>
              </a:rPr>
              <a:t>GENEROSIDAD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766E6F-3216-6D61-161A-EE50206D0B1E}"/>
              </a:ext>
            </a:extLst>
          </p:cNvPr>
          <p:cNvSpPr txBox="1"/>
          <p:nvPr/>
        </p:nvSpPr>
        <p:spPr>
          <a:xfrm>
            <a:off x="4826000" y="1143000"/>
            <a:ext cx="685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2B5582"/>
                </a:solidFill>
                <a:latin typeface="Segoe UI" panose="020B0502040204020203" pitchFamily="34" charset="0"/>
              </a:rPr>
              <a:t>PROPUESTA COMERCIAL  Â· 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A2B1C8-905B-7B00-2169-328DCA543171}"/>
              </a:ext>
            </a:extLst>
          </p:cNvPr>
          <p:cNvSpPr txBox="1"/>
          <p:nvPr/>
        </p:nvSpPr>
        <p:spPr>
          <a:xfrm>
            <a:off x="4826000" y="1778000"/>
            <a:ext cx="6858000" cy="253992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s-ES" sz="4000" b="1">
                <a:solidFill>
                  <a:srgbClr val="1A365D"/>
                </a:solidFill>
                <a:latin typeface="Segoe UI Light" panose="020B0502040204020203" pitchFamily="34" charset="0"/>
              </a:rPr>
              <a:t>Administra tu
iglesia con orden,
transparencia y
facilidad.</a:t>
            </a:r>
            <a:endParaRPr lang="en-US" sz="4000" b="1">
              <a:solidFill>
                <a:srgbClr val="1A365D"/>
              </a:solidFill>
              <a:latin typeface="Segoe UI Light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4FB58B-8222-C96B-F471-0CE8B9AE203A}"/>
              </a:ext>
            </a:extLst>
          </p:cNvPr>
          <p:cNvSpPr/>
          <p:nvPr/>
        </p:nvSpPr>
        <p:spPr>
          <a:xfrm>
            <a:off x="4826000" y="4572000"/>
            <a:ext cx="1016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7C3682-CF2B-0D48-B5E8-7580D3CF2A3C}"/>
              </a:ext>
            </a:extLst>
          </p:cNvPr>
          <p:cNvSpPr txBox="1"/>
          <p:nvPr/>
        </p:nvSpPr>
        <p:spPr>
          <a:xfrm>
            <a:off x="4826000" y="4826000"/>
            <a:ext cx="6858000" cy="2328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300">
                <a:solidFill>
                  <a:srgbClr val="2D3748"/>
                </a:solidFill>
                <a:latin typeface="Segoe UI" panose="020B0502040204020203" pitchFamily="34" charset="0"/>
              </a:rPr>
              <a:t>Personas. Donaciones. Campanas. Recibos. Reportes.</a:t>
            </a:r>
            <a:endParaRPr lang="en-US" sz="13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48818A-C666-60C1-1EA2-111B9EFC68DB}"/>
              </a:ext>
            </a:extLst>
          </p:cNvPr>
          <p:cNvSpPr txBox="1"/>
          <p:nvPr/>
        </p:nvSpPr>
        <p:spPr>
          <a:xfrm>
            <a:off x="4826000" y="5143500"/>
            <a:ext cx="6858000" cy="2328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300">
                <a:solidFill>
                  <a:srgbClr val="2D3748"/>
                </a:solidFill>
                <a:latin typeface="Segoe UI" panose="020B0502040204020203" pitchFamily="34" charset="0"/>
              </a:rPr>
              <a:t>Una sola plataforma, pensada para iglesias.</a:t>
            </a:r>
            <a:endParaRPr lang="en-US" sz="13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CDC47-5461-B57C-039F-5DEDF67442C2}"/>
              </a:ext>
            </a:extLst>
          </p:cNvPr>
          <p:cNvSpPr txBox="1"/>
          <p:nvPr/>
        </p:nvSpPr>
        <p:spPr>
          <a:xfrm>
            <a:off x="4826000" y="6223000"/>
            <a:ext cx="685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800" b="1">
                <a:solidFill>
                  <a:srgbClr val="718096"/>
                </a:solidFill>
                <a:latin typeface="Segoe UI" panose="020B0502040204020203" pitchFamily="34" charset="0"/>
              </a:rPr>
              <a:t>PARA IGLESIAS HISPANAS Y BILINGUES EN ESTADOS UNIDOS</a:t>
            </a:r>
            <a:endParaRPr lang="en-US" sz="800" b="1">
              <a:solidFill>
                <a:srgbClr val="71809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23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C23AFE-8691-12B1-51A7-11A567B6CD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DABB2-C3E8-CA74-7B05-21EF24D84615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8C0A6-833C-34D6-FE77-232DDFD8F3CA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02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796C4-90D8-04F3-041B-2D75B1C576BB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7D7D4-30CF-FA15-9CB3-999FAD6A53F4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EL PROBLEMA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2F502-BE41-B65C-CDAC-9603BEDE3221}"/>
              </a:ext>
            </a:extLst>
          </p:cNvPr>
          <p:cNvSpPr txBox="1"/>
          <p:nvPr/>
        </p:nvSpPr>
        <p:spPr>
          <a:xfrm>
            <a:off x="762000" y="1524000"/>
            <a:ext cx="10160000" cy="53040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s-ES" sz="3400" b="1">
                <a:solidFill>
                  <a:srgbClr val="1A365D"/>
                </a:solidFill>
                <a:latin typeface="Segoe UI Light" panose="020B0502040204020203" pitchFamily="34" charset="0"/>
              </a:rPr>
              <a:t>La generosidad no es el problema.</a:t>
            </a:r>
            <a:endParaRPr lang="en-US" sz="3400" b="1">
              <a:solidFill>
                <a:srgbClr val="1A365D"/>
              </a:solidFill>
              <a:latin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DF831-5049-8EBB-BCA4-5ACFE34001AE}"/>
              </a:ext>
            </a:extLst>
          </p:cNvPr>
          <p:cNvSpPr txBox="1"/>
          <p:nvPr/>
        </p:nvSpPr>
        <p:spPr>
          <a:xfrm>
            <a:off x="762000" y="2222500"/>
            <a:ext cx="10160000" cy="4680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i="1">
                <a:solidFill>
                  <a:srgbClr val="2B5582"/>
                </a:solidFill>
                <a:latin typeface="Segoe UI Light" panose="020B0502040204020203" pitchFamily="34" charset="0"/>
              </a:rPr>
              <a:t>Administrarla, si.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A8C864-1DDB-C328-98C9-44DD814F717B}"/>
              </a:ext>
            </a:extLst>
          </p:cNvPr>
          <p:cNvSpPr/>
          <p:nvPr/>
        </p:nvSpPr>
        <p:spPr>
          <a:xfrm>
            <a:off x="762000" y="3429000"/>
            <a:ext cx="2006600" cy="1016000"/>
          </a:xfrm>
          <a:prstGeom prst="rect">
            <a:avLst/>
          </a:prstGeom>
          <a:solidFill>
            <a:srgbClr val="FAF8F3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A93A2-5B9F-AFD5-2768-EDB5EB19C48D}"/>
              </a:ext>
            </a:extLst>
          </p:cNvPr>
          <p:cNvSpPr txBox="1"/>
          <p:nvPr/>
        </p:nvSpPr>
        <p:spPr>
          <a:xfrm>
            <a:off x="914400" y="36576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C81010-32E6-1575-77A0-E613543AF46E}"/>
              </a:ext>
            </a:extLst>
          </p:cNvPr>
          <p:cNvSpPr txBox="1"/>
          <p:nvPr/>
        </p:nvSpPr>
        <p:spPr>
          <a:xfrm>
            <a:off x="914400" y="40005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718096"/>
                </a:solidFill>
                <a:latin typeface="Segoe UI" panose="020B0502040204020203" pitchFamily="34" charset="0"/>
              </a:rPr>
              <a:t>disperso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FBF0B8-8493-5AA9-0D1F-6AAC8C6672A2}"/>
              </a:ext>
            </a:extLst>
          </p:cNvPr>
          <p:cNvSpPr/>
          <p:nvPr/>
        </p:nvSpPr>
        <p:spPr>
          <a:xfrm>
            <a:off x="2921000" y="3429000"/>
            <a:ext cx="2006600" cy="1016000"/>
          </a:xfrm>
          <a:prstGeom prst="rect">
            <a:avLst/>
          </a:prstGeom>
          <a:solidFill>
            <a:srgbClr val="FAF8F3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56231-83CA-2A3E-4ADE-812E7F68B181}"/>
              </a:ext>
            </a:extLst>
          </p:cNvPr>
          <p:cNvSpPr txBox="1"/>
          <p:nvPr/>
        </p:nvSpPr>
        <p:spPr>
          <a:xfrm>
            <a:off x="3073400" y="36576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Libretas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95D14-83DD-330E-4FBA-AD6B7622E12F}"/>
              </a:ext>
            </a:extLst>
          </p:cNvPr>
          <p:cNvSpPr txBox="1"/>
          <p:nvPr/>
        </p:nvSpPr>
        <p:spPr>
          <a:xfrm>
            <a:off x="3073400" y="40005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718096"/>
                </a:solidFill>
                <a:latin typeface="Segoe UI" panose="020B0502040204020203" pitchFamily="34" charset="0"/>
              </a:rPr>
              <a:t>sueltas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E219A8-9A08-EA64-28A6-04038FC0C259}"/>
              </a:ext>
            </a:extLst>
          </p:cNvPr>
          <p:cNvSpPr/>
          <p:nvPr/>
        </p:nvSpPr>
        <p:spPr>
          <a:xfrm>
            <a:off x="5080000" y="3429000"/>
            <a:ext cx="2006600" cy="1016000"/>
          </a:xfrm>
          <a:prstGeom prst="rect">
            <a:avLst/>
          </a:prstGeom>
          <a:solidFill>
            <a:srgbClr val="FAF8F3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F182FC-D094-B237-EBED-ED7C51465800}"/>
              </a:ext>
            </a:extLst>
          </p:cNvPr>
          <p:cNvSpPr txBox="1"/>
          <p:nvPr/>
        </p:nvSpPr>
        <p:spPr>
          <a:xfrm>
            <a:off x="5232400" y="36576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WhatsApp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B37D7-C754-702D-D7B5-E3A8A499B476}"/>
              </a:ext>
            </a:extLst>
          </p:cNvPr>
          <p:cNvSpPr txBox="1"/>
          <p:nvPr/>
        </p:nvSpPr>
        <p:spPr>
          <a:xfrm>
            <a:off x="5232400" y="40005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718096"/>
                </a:solidFill>
                <a:latin typeface="Segoe UI" panose="020B0502040204020203" pitchFamily="34" charset="0"/>
              </a:rPr>
              <a:t>con apuntes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46B2B4-D11C-62FC-4AE1-8C9ECC7DB71F}"/>
              </a:ext>
            </a:extLst>
          </p:cNvPr>
          <p:cNvSpPr/>
          <p:nvPr/>
        </p:nvSpPr>
        <p:spPr>
          <a:xfrm>
            <a:off x="7239000" y="3429000"/>
            <a:ext cx="2006600" cy="1016000"/>
          </a:xfrm>
          <a:prstGeom prst="rect">
            <a:avLst/>
          </a:prstGeom>
          <a:solidFill>
            <a:srgbClr val="FAF8F3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639A88-6C00-AE2F-0469-270D7A08EBFB}"/>
              </a:ext>
            </a:extLst>
          </p:cNvPr>
          <p:cNvSpPr txBox="1"/>
          <p:nvPr/>
        </p:nvSpPr>
        <p:spPr>
          <a:xfrm>
            <a:off x="7391400" y="36576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Recibos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125A06-80CA-61EA-FB2C-C393969A3077}"/>
              </a:ext>
            </a:extLst>
          </p:cNvPr>
          <p:cNvSpPr txBox="1"/>
          <p:nvPr/>
        </p:nvSpPr>
        <p:spPr>
          <a:xfrm>
            <a:off x="7391400" y="40005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718096"/>
                </a:solidFill>
                <a:latin typeface="Segoe UI" panose="020B0502040204020203" pitchFamily="34" charset="0"/>
              </a:rPr>
              <a:t>manuales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85648D-C357-814D-6628-64F4F071C4F4}"/>
              </a:ext>
            </a:extLst>
          </p:cNvPr>
          <p:cNvSpPr/>
          <p:nvPr/>
        </p:nvSpPr>
        <p:spPr>
          <a:xfrm>
            <a:off x="9398000" y="3429000"/>
            <a:ext cx="2006600" cy="1016000"/>
          </a:xfrm>
          <a:prstGeom prst="rect">
            <a:avLst/>
          </a:prstGeom>
          <a:solidFill>
            <a:srgbClr val="FAF8F3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EBC89F-E86A-1229-7177-6C4019E0513D}"/>
              </a:ext>
            </a:extLst>
          </p:cNvPr>
          <p:cNvSpPr txBox="1"/>
          <p:nvPr/>
        </p:nvSpPr>
        <p:spPr>
          <a:xfrm>
            <a:off x="9550400" y="36576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Reportes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20A30D-5ACF-B7B7-6E89-651CE51F6BB1}"/>
              </a:ext>
            </a:extLst>
          </p:cNvPr>
          <p:cNvSpPr txBox="1"/>
          <p:nvPr/>
        </p:nvSpPr>
        <p:spPr>
          <a:xfrm>
            <a:off x="9550400" y="40005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718096"/>
                </a:solidFill>
                <a:latin typeface="Segoe UI" panose="020B0502040204020203" pitchFamily="34" charset="0"/>
              </a:rPr>
              <a:t>a mano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AF8A14-22D8-EF19-CA33-0278065232CD}"/>
              </a:ext>
            </a:extLst>
          </p:cNvPr>
          <p:cNvSpPr/>
          <p:nvPr/>
        </p:nvSpPr>
        <p:spPr>
          <a:xfrm>
            <a:off x="762000" y="5080000"/>
            <a:ext cx="76200" cy="10160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388DF-373D-101A-4B87-32FFD30A229B}"/>
              </a:ext>
            </a:extLst>
          </p:cNvPr>
          <p:cNvSpPr txBox="1"/>
          <p:nvPr/>
        </p:nvSpPr>
        <p:spPr>
          <a:xfrm>
            <a:off x="1016000" y="5143500"/>
            <a:ext cx="10414000" cy="250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400" i="1">
                <a:solidFill>
                  <a:srgbClr val="2D3748"/>
                </a:solidFill>
                <a:latin typeface="Segoe UI" panose="020B0502040204020203" pitchFamily="34" charset="0"/>
              </a:rPr>
              <a:t>El problema no es la generosidad de la congregacion;</a:t>
            </a:r>
            <a:endParaRPr lang="en-US" sz="1400" i="1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E20DEA-BCFA-0A58-B871-DB8D75435659}"/>
              </a:ext>
            </a:extLst>
          </p:cNvPr>
          <p:cNvSpPr txBox="1"/>
          <p:nvPr/>
        </p:nvSpPr>
        <p:spPr>
          <a:xfrm>
            <a:off x="1016000" y="5461000"/>
            <a:ext cx="10414000" cy="250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400" i="1">
                <a:solidFill>
                  <a:srgbClr val="2D3748"/>
                </a:solidFill>
                <a:latin typeface="Segoe UI" panose="020B0502040204020203" pitchFamily="34" charset="0"/>
              </a:rPr>
              <a:t>el problema es no tener un sistema claro para administrarla.</a:t>
            </a:r>
            <a:endParaRPr lang="en-US" sz="1400" i="1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453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8575BE-7E76-B2C4-5069-0F8F7C4E33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07E1E-F41B-F0A7-E3C6-7C04E4026E98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42EF7-682C-4166-0C7B-F93551CC35CF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03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2176E-D988-6656-2ACF-0C0601FF95BE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1ED94-2A62-3183-F700-9289F35C2F94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LA SOLUCION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BA5D1-8934-AAE0-DF92-716226184D84}"/>
              </a:ext>
            </a:extLst>
          </p:cNvPr>
          <p:cNvSpPr txBox="1"/>
          <p:nvPr/>
        </p:nvSpPr>
        <p:spPr>
          <a:xfrm>
            <a:off x="762000" y="1524000"/>
            <a:ext cx="10160000" cy="4991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1A365D"/>
                </a:solidFill>
                <a:latin typeface="Segoe UI Light" panose="020B0502040204020203" pitchFamily="34" charset="0"/>
              </a:rPr>
              <a:t>Una plataforma simple,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93FDF-EB2E-BEC1-AB71-A97F84E20B66}"/>
              </a:ext>
            </a:extLst>
          </p:cNvPr>
          <p:cNvSpPr txBox="1"/>
          <p:nvPr/>
        </p:nvSpPr>
        <p:spPr>
          <a:xfrm>
            <a:off x="762000" y="2095500"/>
            <a:ext cx="10160000" cy="4367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i="1">
                <a:solidFill>
                  <a:srgbClr val="2B5582"/>
                </a:solidFill>
                <a:latin typeface="Segoe UI Light" panose="020B0502040204020203" pitchFamily="34" charset="0"/>
              </a:rPr>
              <a:t>pensada para iglesias.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D991F2-5CC3-2D72-C3F6-B9F35DC061BF}"/>
              </a:ext>
            </a:extLst>
          </p:cNvPr>
          <p:cNvSpPr/>
          <p:nvPr/>
        </p:nvSpPr>
        <p:spPr>
          <a:xfrm>
            <a:off x="762000" y="3175000"/>
            <a:ext cx="35560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D04E68-A081-69C7-8163-8A330027C4D0}"/>
              </a:ext>
            </a:extLst>
          </p:cNvPr>
          <p:cNvSpPr/>
          <p:nvPr/>
        </p:nvSpPr>
        <p:spPr>
          <a:xfrm>
            <a:off x="762000" y="3175000"/>
            <a:ext cx="50800" cy="12065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F8D3E3-AFD7-1104-113D-0DCDF17D9DD0}"/>
              </a:ext>
            </a:extLst>
          </p:cNvPr>
          <p:cNvSpPr txBox="1"/>
          <p:nvPr/>
        </p:nvSpPr>
        <p:spPr>
          <a:xfrm>
            <a:off x="990600" y="33274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Personas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32E62-1FFE-53BF-A4E5-33D2559C062D}"/>
              </a:ext>
            </a:extLst>
          </p:cNvPr>
          <p:cNvSpPr txBox="1"/>
          <p:nvPr/>
        </p:nvSpPr>
        <p:spPr>
          <a:xfrm>
            <a:off x="990600" y="3683000"/>
            <a:ext cx="3175000" cy="3656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Miembros, visitantes,
donantes, servidores.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35E5B-2233-ED87-C130-3A66FB4BDE4D}"/>
              </a:ext>
            </a:extLst>
          </p:cNvPr>
          <p:cNvSpPr/>
          <p:nvPr/>
        </p:nvSpPr>
        <p:spPr>
          <a:xfrm>
            <a:off x="4495800" y="3175000"/>
            <a:ext cx="35560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A703C-0183-AFC3-0695-F6B2A6C3B30C}"/>
              </a:ext>
            </a:extLst>
          </p:cNvPr>
          <p:cNvSpPr/>
          <p:nvPr/>
        </p:nvSpPr>
        <p:spPr>
          <a:xfrm>
            <a:off x="4495800" y="3175000"/>
            <a:ext cx="50800" cy="12065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C982A-812F-B966-9825-18FB851854B7}"/>
              </a:ext>
            </a:extLst>
          </p:cNvPr>
          <p:cNvSpPr txBox="1"/>
          <p:nvPr/>
        </p:nvSpPr>
        <p:spPr>
          <a:xfrm>
            <a:off x="4724400" y="33274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Donaciones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ED13C-45AB-8FAA-92BC-54ECDD62E5CB}"/>
              </a:ext>
            </a:extLst>
          </p:cNvPr>
          <p:cNvSpPr txBox="1"/>
          <p:nvPr/>
        </p:nvSpPr>
        <p:spPr>
          <a:xfrm>
            <a:off x="4724400" y="3683000"/>
            <a:ext cx="3175000" cy="3656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Registradas, clasificadas,
y respaldadas.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9EE665-6EB0-491D-FD56-FDC7C9ACB9D2}"/>
              </a:ext>
            </a:extLst>
          </p:cNvPr>
          <p:cNvSpPr/>
          <p:nvPr/>
        </p:nvSpPr>
        <p:spPr>
          <a:xfrm>
            <a:off x="8229600" y="3175000"/>
            <a:ext cx="35560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3358C3-5AD5-A2C5-266A-7BE01584EB4C}"/>
              </a:ext>
            </a:extLst>
          </p:cNvPr>
          <p:cNvSpPr/>
          <p:nvPr/>
        </p:nvSpPr>
        <p:spPr>
          <a:xfrm>
            <a:off x="8229600" y="3175000"/>
            <a:ext cx="50800" cy="12065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A4D885-21A7-9F76-F995-2FC2CBDFF1B8}"/>
              </a:ext>
            </a:extLst>
          </p:cNvPr>
          <p:cNvSpPr txBox="1"/>
          <p:nvPr/>
        </p:nvSpPr>
        <p:spPr>
          <a:xfrm>
            <a:off x="8458200" y="33274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Campanas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529A6-4637-1EFC-43CE-6FDEED70DBD3}"/>
              </a:ext>
            </a:extLst>
          </p:cNvPr>
          <p:cNvSpPr txBox="1"/>
          <p:nvPr/>
        </p:nvSpPr>
        <p:spPr>
          <a:xfrm>
            <a:off x="8458200" y="3683000"/>
            <a:ext cx="3175000" cy="3656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Metas claras con
progreso real.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11BFFC-B600-E5B8-D380-89F01FFB29BD}"/>
              </a:ext>
            </a:extLst>
          </p:cNvPr>
          <p:cNvSpPr/>
          <p:nvPr/>
        </p:nvSpPr>
        <p:spPr>
          <a:xfrm>
            <a:off x="762000" y="4559300"/>
            <a:ext cx="35560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A78DB4-1351-D160-303D-0EFD2C056511}"/>
              </a:ext>
            </a:extLst>
          </p:cNvPr>
          <p:cNvSpPr/>
          <p:nvPr/>
        </p:nvSpPr>
        <p:spPr>
          <a:xfrm>
            <a:off x="762000" y="4559300"/>
            <a:ext cx="50800" cy="12065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42BECF-F7EB-DCCF-36E9-551C4AEEECAB}"/>
              </a:ext>
            </a:extLst>
          </p:cNvPr>
          <p:cNvSpPr txBox="1"/>
          <p:nvPr/>
        </p:nvSpPr>
        <p:spPr>
          <a:xfrm>
            <a:off x="990600" y="47117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Recibos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D9E0E3-C3A9-C92D-50F0-C25E05BE0826}"/>
              </a:ext>
            </a:extLst>
          </p:cNvPr>
          <p:cNvSpPr txBox="1"/>
          <p:nvPr/>
        </p:nvSpPr>
        <p:spPr>
          <a:xfrm>
            <a:off x="990600" y="5067300"/>
            <a:ext cx="3175000" cy="3656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Comprobantes oficiales
reenviados sin duplicar.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BDDB17-2879-8E58-B143-31D181BC7B1A}"/>
              </a:ext>
            </a:extLst>
          </p:cNvPr>
          <p:cNvSpPr/>
          <p:nvPr/>
        </p:nvSpPr>
        <p:spPr>
          <a:xfrm>
            <a:off x="4495800" y="4559300"/>
            <a:ext cx="35560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4B1F15-A84A-B877-D642-E37FB0E2C4EC}"/>
              </a:ext>
            </a:extLst>
          </p:cNvPr>
          <p:cNvSpPr/>
          <p:nvPr/>
        </p:nvSpPr>
        <p:spPr>
          <a:xfrm>
            <a:off x="4495800" y="4559300"/>
            <a:ext cx="50800" cy="12065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0CD3B3-71A8-5C97-F757-DC869609173E}"/>
              </a:ext>
            </a:extLst>
          </p:cNvPr>
          <p:cNvSpPr txBox="1"/>
          <p:nvPr/>
        </p:nvSpPr>
        <p:spPr>
          <a:xfrm>
            <a:off x="4724400" y="47117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Reportes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C49878-9827-39E5-3BBC-2E22184CB614}"/>
              </a:ext>
            </a:extLst>
          </p:cNvPr>
          <p:cNvSpPr txBox="1"/>
          <p:nvPr/>
        </p:nvSpPr>
        <p:spPr>
          <a:xfrm>
            <a:off x="4724400" y="5067300"/>
            <a:ext cx="3175000" cy="3656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Graficos y
exportaciones.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014B92-B857-B7DD-2A9E-B1E64ABA4A3C}"/>
              </a:ext>
            </a:extLst>
          </p:cNvPr>
          <p:cNvSpPr/>
          <p:nvPr/>
        </p:nvSpPr>
        <p:spPr>
          <a:xfrm>
            <a:off x="8229600" y="4559300"/>
            <a:ext cx="3556000" cy="120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82F47D-FCD3-81B0-8950-1C4D68ADE7ED}"/>
              </a:ext>
            </a:extLst>
          </p:cNvPr>
          <p:cNvSpPr/>
          <p:nvPr/>
        </p:nvSpPr>
        <p:spPr>
          <a:xfrm>
            <a:off x="8229600" y="4559300"/>
            <a:ext cx="50800" cy="12065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00EEEC-1999-1411-AE05-0FAB6DC2C34E}"/>
              </a:ext>
            </a:extLst>
          </p:cNvPr>
          <p:cNvSpPr txBox="1"/>
          <p:nvPr/>
        </p:nvSpPr>
        <p:spPr>
          <a:xfrm>
            <a:off x="8458200" y="47117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Portal publico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F08DE4-1EA2-202A-4E26-5CC39FB3E5EF}"/>
              </a:ext>
            </a:extLst>
          </p:cNvPr>
          <p:cNvSpPr txBox="1"/>
          <p:nvPr/>
        </p:nvSpPr>
        <p:spPr>
          <a:xfrm>
            <a:off x="8458200" y="5067300"/>
            <a:ext cx="3175000" cy="3656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Una pagina propia
por iglesia.</a:t>
            </a:r>
          </a:p>
        </p:txBody>
      </p:sp>
    </p:spTree>
    <p:extLst>
      <p:ext uri="{BB962C8B-B14F-4D97-AF65-F5344CB8AC3E}">
        <p14:creationId xmlns:p14="http://schemas.microsoft.com/office/powerpoint/2010/main" val="230444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C868A8-C768-0955-FDDA-D4ACD53F2E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1F2F3-7F43-3490-2BCB-152CE683BA9B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FBCBB-CEF7-5398-BA65-49A96FD36227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04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A13B20-4B6E-8CE2-7BF7-04C395F36A14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FB9CF-382B-4251-983F-1A1A9064C676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EL CORAZON DEL SISTEMA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4920D-B145-74C0-B74A-361F9575B35A}"/>
              </a:ext>
            </a:extLst>
          </p:cNvPr>
          <p:cNvSpPr txBox="1"/>
          <p:nvPr/>
        </p:nvSpPr>
        <p:spPr>
          <a:xfrm>
            <a:off x="762000" y="1524000"/>
            <a:ext cx="10160000" cy="6551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1A365D"/>
                </a:solidFill>
                <a:latin typeface="Segoe UI Light" panose="020B0502040204020203" pitchFamily="34" charset="0"/>
              </a:rPr>
              <a:t>Donaciones.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68FEF-ED92-ACB5-8AD0-0D9EAFE58A8A}"/>
              </a:ext>
            </a:extLst>
          </p:cNvPr>
          <p:cNvSpPr txBox="1"/>
          <p:nvPr/>
        </p:nvSpPr>
        <p:spPr>
          <a:xfrm>
            <a:off x="762000" y="2286000"/>
            <a:ext cx="10160000" cy="2680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600" i="1">
                <a:solidFill>
                  <a:srgbClr val="718096"/>
                </a:solidFill>
                <a:latin typeface="Segoe UI" panose="020B0502040204020203" pitchFamily="34" charset="0"/>
              </a:rPr>
              <a:t>Tres etapas, una sola verdad.</a:t>
            </a:r>
            <a:endParaRPr lang="en-US" sz="1600" i="1">
              <a:solidFill>
                <a:srgbClr val="718096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E2D2F0-1E77-7DBF-6A05-561694804F47}"/>
              </a:ext>
            </a:extLst>
          </p:cNvPr>
          <p:cNvSpPr/>
          <p:nvPr/>
        </p:nvSpPr>
        <p:spPr>
          <a:xfrm>
            <a:off x="762000" y="3175000"/>
            <a:ext cx="3048000" cy="1397000"/>
          </a:xfrm>
          <a:prstGeom prst="rect">
            <a:avLst/>
          </a:prstGeom>
          <a:solidFill>
            <a:srgbClr val="F4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B5D851-17E4-BF33-1019-381659586640}"/>
              </a:ext>
            </a:extLst>
          </p:cNvPr>
          <p:cNvSpPr/>
          <p:nvPr/>
        </p:nvSpPr>
        <p:spPr>
          <a:xfrm>
            <a:off x="762000" y="3175000"/>
            <a:ext cx="3048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8ADFE-4476-C89E-9A44-7EE23F8EEF9E}"/>
              </a:ext>
            </a:extLst>
          </p:cNvPr>
          <p:cNvSpPr txBox="1"/>
          <p:nvPr/>
        </p:nvSpPr>
        <p:spPr>
          <a:xfrm>
            <a:off x="990600" y="3403600"/>
            <a:ext cx="259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7A151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7020D3-AC73-1D00-A2C0-B8C21DB9DD25}"/>
              </a:ext>
            </a:extLst>
          </p:cNvPr>
          <p:cNvSpPr txBox="1"/>
          <p:nvPr/>
        </p:nvSpPr>
        <p:spPr>
          <a:xfrm>
            <a:off x="990600" y="36068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A365D"/>
                </a:solidFill>
                <a:latin typeface="Segoe UI" panose="020B0502040204020203" pitchFamily="34" charset="0"/>
              </a:rPr>
              <a:t>Intencion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5FC79-84E0-3915-435E-7E3779983083}"/>
              </a:ext>
            </a:extLst>
          </p:cNvPr>
          <p:cNvSpPr txBox="1"/>
          <p:nvPr/>
        </p:nvSpPr>
        <p:spPr>
          <a:xfrm>
            <a:off x="990600" y="3962400"/>
            <a:ext cx="2590800" cy="5368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Visitante o donante
deja registrada su
voluntad de aportar.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377BD9CA-9AFF-68E1-C644-13D807E13830}"/>
              </a:ext>
            </a:extLst>
          </p:cNvPr>
          <p:cNvSpPr/>
          <p:nvPr/>
        </p:nvSpPr>
        <p:spPr>
          <a:xfrm>
            <a:off x="3835400" y="3746500"/>
            <a:ext cx="330200" cy="254000"/>
          </a:xfrm>
          <a:prstGeom prst="can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9B467A-2000-B79E-9AB0-BABDDBB624EE}"/>
              </a:ext>
            </a:extLst>
          </p:cNvPr>
          <p:cNvSpPr/>
          <p:nvPr/>
        </p:nvSpPr>
        <p:spPr>
          <a:xfrm>
            <a:off x="4191000" y="3175000"/>
            <a:ext cx="3048000" cy="1397000"/>
          </a:xfrm>
          <a:prstGeom prst="rect">
            <a:avLst/>
          </a:prstGeom>
          <a:solidFill>
            <a:srgbClr val="F4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52E2D2-AFA9-7B1A-D265-3DDFD43249CF}"/>
              </a:ext>
            </a:extLst>
          </p:cNvPr>
          <p:cNvSpPr/>
          <p:nvPr/>
        </p:nvSpPr>
        <p:spPr>
          <a:xfrm>
            <a:off x="4191000" y="3175000"/>
            <a:ext cx="3048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7C29A3-6184-83EC-F712-74E0588EB2D1}"/>
              </a:ext>
            </a:extLst>
          </p:cNvPr>
          <p:cNvSpPr txBox="1"/>
          <p:nvPr/>
        </p:nvSpPr>
        <p:spPr>
          <a:xfrm>
            <a:off x="4419600" y="3403600"/>
            <a:ext cx="259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7A151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08C646-D313-7C01-BCB4-E075FC08057D}"/>
              </a:ext>
            </a:extLst>
          </p:cNvPr>
          <p:cNvSpPr txBox="1"/>
          <p:nvPr/>
        </p:nvSpPr>
        <p:spPr>
          <a:xfrm>
            <a:off x="4419600" y="36068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A365D"/>
                </a:solidFill>
                <a:latin typeface="Segoe UI" panose="020B0502040204020203" pitchFamily="34" charset="0"/>
              </a:rPr>
              <a:t>Donacion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674517-1C47-B23E-F3F2-914DDA4FC4D8}"/>
              </a:ext>
            </a:extLst>
          </p:cNvPr>
          <p:cNvSpPr txBox="1"/>
          <p:nvPr/>
        </p:nvSpPr>
        <p:spPr>
          <a:xfrm>
            <a:off x="4419600" y="3962400"/>
            <a:ext cx="2590800" cy="5368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La iglesia confirma
que el aporte
entro de verdad.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4688C689-6C3D-26C7-4A09-9FF0A267CACD}"/>
              </a:ext>
            </a:extLst>
          </p:cNvPr>
          <p:cNvSpPr/>
          <p:nvPr/>
        </p:nvSpPr>
        <p:spPr>
          <a:xfrm>
            <a:off x="7264400" y="3746500"/>
            <a:ext cx="330200" cy="254000"/>
          </a:xfrm>
          <a:prstGeom prst="can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1646DC-617C-6445-E70E-CF626F07C4F0}"/>
              </a:ext>
            </a:extLst>
          </p:cNvPr>
          <p:cNvSpPr/>
          <p:nvPr/>
        </p:nvSpPr>
        <p:spPr>
          <a:xfrm>
            <a:off x="7620000" y="3175000"/>
            <a:ext cx="3048000" cy="1397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2BA4A5-B943-0F06-BD4E-911A9E0AD990}"/>
              </a:ext>
            </a:extLst>
          </p:cNvPr>
          <p:cNvSpPr/>
          <p:nvPr/>
        </p:nvSpPr>
        <p:spPr>
          <a:xfrm>
            <a:off x="7620000" y="3175000"/>
            <a:ext cx="3048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650F2B-1A38-FABA-620F-7D07553E5AA0}"/>
              </a:ext>
            </a:extLst>
          </p:cNvPr>
          <p:cNvSpPr txBox="1"/>
          <p:nvPr/>
        </p:nvSpPr>
        <p:spPr>
          <a:xfrm>
            <a:off x="7848600" y="3403600"/>
            <a:ext cx="259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DCC38C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112A94-920D-FFB5-4D9A-B1C00302E559}"/>
              </a:ext>
            </a:extLst>
          </p:cNvPr>
          <p:cNvSpPr txBox="1"/>
          <p:nvPr/>
        </p:nvSpPr>
        <p:spPr>
          <a:xfrm>
            <a:off x="7848600" y="36068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Recibo oficial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9D2C45-AA17-F4A3-805E-6E525963CE5E}"/>
              </a:ext>
            </a:extLst>
          </p:cNvPr>
          <p:cNvSpPr txBox="1"/>
          <p:nvPr/>
        </p:nvSpPr>
        <p:spPr>
          <a:xfrm>
            <a:off x="7848600" y="3962400"/>
            <a:ext cx="2590800" cy="53687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>
                <a:solidFill>
                  <a:srgbClr val="FAF8F3"/>
                </a:solidFill>
                <a:latin typeface="Segoe UI" panose="020B0502040204020203" pitchFamily="34" charset="0"/>
              </a:rPr>
              <a:t>Comprobante con
numero oficial,
reenviable sin duplicar.</a:t>
            </a:r>
            <a:endParaRPr lang="en-US" sz="1000">
              <a:solidFill>
                <a:srgbClr val="FAF8F3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E12DE3-52E6-AC54-2F39-826628C55A1E}"/>
              </a:ext>
            </a:extLst>
          </p:cNvPr>
          <p:cNvSpPr/>
          <p:nvPr/>
        </p:nvSpPr>
        <p:spPr>
          <a:xfrm>
            <a:off x="762000" y="5207000"/>
            <a:ext cx="76200" cy="10160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5AF67E-00C2-755A-D753-F4C8D0FBA566}"/>
              </a:ext>
            </a:extLst>
          </p:cNvPr>
          <p:cNvSpPr txBox="1"/>
          <p:nvPr/>
        </p:nvSpPr>
        <p:spPr>
          <a:xfrm>
            <a:off x="1016000" y="5270500"/>
            <a:ext cx="10414000" cy="250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i="1">
                <a:solidFill>
                  <a:srgbClr val="2D3748"/>
                </a:solidFill>
                <a:latin typeface="Segoe UI" panose="020B0502040204020203" pitchFamily="34" charset="0"/>
              </a:rPr>
              <a:t>Solo la donacion confirmada genera comprobante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5425E4-B86E-F285-79B3-91AEAD665636}"/>
              </a:ext>
            </a:extLst>
          </p:cNvPr>
          <p:cNvSpPr txBox="1"/>
          <p:nvPr/>
        </p:nvSpPr>
        <p:spPr>
          <a:xfrm>
            <a:off x="1016000" y="5588000"/>
            <a:ext cx="10414000" cy="250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400" i="1">
                <a:solidFill>
                  <a:srgbClr val="2D3748"/>
                </a:solidFill>
                <a:latin typeface="Segoe UI" panose="020B0502040204020203" pitchFamily="34" charset="0"/>
              </a:rPr>
              <a:t>y cuenta en los reportes. Cero ruido. Cero duplicados.</a:t>
            </a:r>
            <a:endParaRPr lang="en-US" sz="1400" i="1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67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9201A0-5EDF-4CB6-F543-6697EDB5E9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13525-CBE8-4570-186E-4DF959ED00B1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04883-C6D6-2F97-702E-474D4695D0A1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05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9DE113-BBBF-A7C7-ED5C-7442639CC1BC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8E349-0A04-D9A1-DCF0-2F029D902582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PROYECTOS Y COMPROBANTES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AA485-93A0-394A-AEB9-7C4DD27196A3}"/>
              </a:ext>
            </a:extLst>
          </p:cNvPr>
          <p:cNvSpPr txBox="1"/>
          <p:nvPr/>
        </p:nvSpPr>
        <p:spPr>
          <a:xfrm>
            <a:off x="762000" y="1524000"/>
            <a:ext cx="10160000" cy="53040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>
                <a:solidFill>
                  <a:srgbClr val="1A365D"/>
                </a:solidFill>
                <a:latin typeface="Segoe UI Light" panose="020B0502040204020203" pitchFamily="34" charset="0"/>
              </a:rPr>
              <a:t>Metas claras.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543FE-F054-BC54-5876-4D04F9DB9F06}"/>
              </a:ext>
            </a:extLst>
          </p:cNvPr>
          <p:cNvSpPr txBox="1"/>
          <p:nvPr/>
        </p:nvSpPr>
        <p:spPr>
          <a:xfrm>
            <a:off x="762000" y="2095500"/>
            <a:ext cx="10160000" cy="4680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i="1">
                <a:solidFill>
                  <a:srgbClr val="2B5582"/>
                </a:solidFill>
                <a:latin typeface="Segoe UI Light" panose="020B0502040204020203" pitchFamily="34" charset="0"/>
              </a:rPr>
              <a:t>Comprobantes seguros.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A0D7E2-E008-C45F-AA49-BED63D13CE8B}"/>
              </a:ext>
            </a:extLst>
          </p:cNvPr>
          <p:cNvSpPr/>
          <p:nvPr/>
        </p:nvSpPr>
        <p:spPr>
          <a:xfrm>
            <a:off x="762000" y="3175000"/>
            <a:ext cx="5207000" cy="304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F3622-5D74-373A-0850-09F1E2F12469}"/>
              </a:ext>
            </a:extLst>
          </p:cNvPr>
          <p:cNvSpPr/>
          <p:nvPr/>
        </p:nvSpPr>
        <p:spPr>
          <a:xfrm>
            <a:off x="762000" y="3175000"/>
            <a:ext cx="5207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6E80E-4885-F141-A63D-C9D8B10D4A59}"/>
              </a:ext>
            </a:extLst>
          </p:cNvPr>
          <p:cNvSpPr txBox="1"/>
          <p:nvPr/>
        </p:nvSpPr>
        <p:spPr>
          <a:xfrm>
            <a:off x="1016000" y="34290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CAMPANAS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ABC076-5008-8917-1C9E-EB617EA1E669}"/>
              </a:ext>
            </a:extLst>
          </p:cNvPr>
          <p:cNvSpPr txBox="1"/>
          <p:nvPr/>
        </p:nvSpPr>
        <p:spPr>
          <a:xfrm>
            <a:off x="1016000" y="3746500"/>
            <a:ext cx="4699000" cy="3120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>
                <a:solidFill>
                  <a:srgbClr val="1A365D"/>
                </a:solidFill>
                <a:latin typeface="Segoe UI Light" panose="020B0502040204020203" pitchFamily="34" charset="0"/>
              </a:rPr>
              <a:t>Convierte proyectos en metas.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97128C-9717-3B2E-D845-26E88E1DB4F8}"/>
              </a:ext>
            </a:extLst>
          </p:cNvPr>
          <p:cNvSpPr txBox="1"/>
          <p:nvPr/>
        </p:nvSpPr>
        <p:spPr>
          <a:xfrm>
            <a:off x="1016000" y="4381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Misiones, construccion, retiros,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B7361-92D6-344A-AE09-C3F0CF133AF3}"/>
              </a:ext>
            </a:extLst>
          </p:cNvPr>
          <p:cNvSpPr txBox="1"/>
          <p:nvPr/>
        </p:nvSpPr>
        <p:spPr>
          <a:xfrm>
            <a:off x="1016000" y="4584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ayuda comunitaria.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E17C2F-E7C4-D343-3126-A3EE333B0ED9}"/>
              </a:ext>
            </a:extLst>
          </p:cNvPr>
          <p:cNvSpPr txBox="1"/>
          <p:nvPr/>
        </p:nvSpPr>
        <p:spPr>
          <a:xfrm>
            <a:off x="1016000" y="47879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40E137-E7A6-BF37-698A-3CF1BBE16ADE}"/>
              </a:ext>
            </a:extLst>
          </p:cNvPr>
          <p:cNvSpPr txBox="1"/>
          <p:nvPr/>
        </p:nvSpPr>
        <p:spPr>
          <a:xfrm>
            <a:off x="1016000" y="49911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Meta, recaudado y progreso visible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AB0432-CB13-8DDD-9AB6-FE1AA6875086}"/>
              </a:ext>
            </a:extLst>
          </p:cNvPr>
          <p:cNvSpPr txBox="1"/>
          <p:nvPr/>
        </p:nvSpPr>
        <p:spPr>
          <a:xfrm>
            <a:off x="1016000" y="51943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desde el portal publico.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57768A-DE8A-B540-FE5E-1C10F2383A6E}"/>
              </a:ext>
            </a:extLst>
          </p:cNvPr>
          <p:cNvSpPr txBox="1"/>
          <p:nvPr/>
        </p:nvSpPr>
        <p:spPr>
          <a:xfrm>
            <a:off x="1016000" y="5397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58A77-2891-4A73-14B4-47B1B95F9E50}"/>
              </a:ext>
            </a:extLst>
          </p:cNvPr>
          <p:cNvSpPr txBox="1"/>
          <p:nvPr/>
        </p:nvSpPr>
        <p:spPr>
          <a:xfrm>
            <a:off x="1016000" y="5600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El progreso solo cuenta donaciones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3A9DA2-8951-B45B-AF3C-D232199ED9D9}"/>
              </a:ext>
            </a:extLst>
          </p:cNvPr>
          <p:cNvSpPr txBox="1"/>
          <p:nvPr/>
        </p:nvSpPr>
        <p:spPr>
          <a:xfrm>
            <a:off x="1016000" y="58039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confirmadas. Cero inflacion.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4AD5F5-4938-ADE7-BBA1-20F988D8423F}"/>
              </a:ext>
            </a:extLst>
          </p:cNvPr>
          <p:cNvSpPr/>
          <p:nvPr/>
        </p:nvSpPr>
        <p:spPr>
          <a:xfrm>
            <a:off x="6223000" y="3175000"/>
            <a:ext cx="5207000" cy="304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E61505-377E-E528-CABE-17D65922F92C}"/>
              </a:ext>
            </a:extLst>
          </p:cNvPr>
          <p:cNvSpPr/>
          <p:nvPr/>
        </p:nvSpPr>
        <p:spPr>
          <a:xfrm>
            <a:off x="6223000" y="3175000"/>
            <a:ext cx="5207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DF7431-12E6-5928-C1A4-EDC9491BC782}"/>
              </a:ext>
            </a:extLst>
          </p:cNvPr>
          <p:cNvSpPr txBox="1"/>
          <p:nvPr/>
        </p:nvSpPr>
        <p:spPr>
          <a:xfrm>
            <a:off x="6477000" y="34290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RECIBOS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A339A7-D1C2-84DD-76EF-F2571D5B63F5}"/>
              </a:ext>
            </a:extLst>
          </p:cNvPr>
          <p:cNvSpPr txBox="1"/>
          <p:nvPr/>
        </p:nvSpPr>
        <p:spPr>
          <a:xfrm>
            <a:off x="6477000" y="3746500"/>
            <a:ext cx="4699000" cy="3120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s-ES" sz="2000" b="1">
                <a:solidFill>
                  <a:srgbClr val="1A365D"/>
                </a:solidFill>
                <a:latin typeface="Segoe UI Light" panose="020B0502040204020203" pitchFamily="34" charset="0"/>
              </a:rPr>
              <a:t>Comprobantes que si se encuentran.</a:t>
            </a:r>
            <a:endParaRPr lang="en-US" sz="2000" b="1">
              <a:solidFill>
                <a:srgbClr val="1A365D"/>
              </a:solidFill>
              <a:latin typeface="Segoe UI Ligh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53311E-E38A-107B-7CFB-4530EE654482}"/>
              </a:ext>
            </a:extLst>
          </p:cNvPr>
          <p:cNvSpPr txBox="1"/>
          <p:nvPr/>
        </p:nvSpPr>
        <p:spPr>
          <a:xfrm>
            <a:off x="6477000" y="4381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Numero oficial y consecutivo.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CD07C4-E6D5-2991-1177-EBC7DFCAFB6E}"/>
              </a:ext>
            </a:extLst>
          </p:cNvPr>
          <p:cNvSpPr txBox="1"/>
          <p:nvPr/>
        </p:nvSpPr>
        <p:spPr>
          <a:xfrm>
            <a:off x="6477000" y="4584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EB215C-7874-3041-0DFE-9417AF7DFB89}"/>
              </a:ext>
            </a:extLst>
          </p:cNvPr>
          <p:cNvSpPr txBox="1"/>
          <p:nvPr/>
        </p:nvSpPr>
        <p:spPr>
          <a:xfrm>
            <a:off x="6477000" y="47879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Historial completo de envios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F9EDBB-18F6-252E-0D31-C2195FB12094}"/>
              </a:ext>
            </a:extLst>
          </p:cNvPr>
          <p:cNvSpPr txBox="1"/>
          <p:nvPr/>
        </p:nvSpPr>
        <p:spPr>
          <a:xfrm>
            <a:off x="6477000" y="49911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por cada comprobante.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1260A2-7654-E26B-566F-95CA83C21752}"/>
              </a:ext>
            </a:extLst>
          </p:cNvPr>
          <p:cNvSpPr txBox="1"/>
          <p:nvPr/>
        </p:nvSpPr>
        <p:spPr>
          <a:xfrm>
            <a:off x="6477000" y="51943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B182A3-390F-B7F1-A548-B1106453461C}"/>
              </a:ext>
            </a:extLst>
          </p:cNvPr>
          <p:cNvSpPr txBox="1"/>
          <p:nvPr/>
        </p:nvSpPr>
        <p:spPr>
          <a:xfrm>
            <a:off x="6477000" y="5397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Reenvia el recibo sin duplicar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ACAC1A-436F-49BA-7A2F-65E07F865786}"/>
              </a:ext>
            </a:extLst>
          </p:cNvPr>
          <p:cNvSpPr txBox="1"/>
          <p:nvPr/>
        </p:nvSpPr>
        <p:spPr>
          <a:xfrm>
            <a:off x="6477000" y="5600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la donacion. Reportes intactos.</a:t>
            </a:r>
          </a:p>
        </p:txBody>
      </p:sp>
    </p:spTree>
    <p:extLst>
      <p:ext uri="{BB962C8B-B14F-4D97-AF65-F5344CB8AC3E}">
        <p14:creationId xmlns:p14="http://schemas.microsoft.com/office/powerpoint/2010/main" val="235511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4710FE-66E7-3D9B-9243-D4B8B291D6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38178-14B6-8200-FC4C-6F6603C7B3DE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8709D-3DCE-37E4-5229-726EDBFC2D27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06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2D083B-AFBB-76A4-C895-A06922A61FCB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C5191-05A3-96D9-C7CE-DB4B19BEA4A8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CONGREGACION Y PRESENCIA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B73D1-E54C-5F7B-3541-04F9E24829CE}"/>
              </a:ext>
            </a:extLst>
          </p:cNvPr>
          <p:cNvSpPr txBox="1"/>
          <p:nvPr/>
        </p:nvSpPr>
        <p:spPr>
          <a:xfrm>
            <a:off x="762000" y="1524000"/>
            <a:ext cx="10160000" cy="53040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>
                <a:solidFill>
                  <a:srgbClr val="1A365D"/>
                </a:solidFill>
                <a:latin typeface="Segoe UI Light" panose="020B0502040204020203" pitchFamily="34" charset="0"/>
              </a:rPr>
              <a:t>Tu gente organizada.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F2D21-EDC2-1FAD-6CA4-3CA478734B16}"/>
              </a:ext>
            </a:extLst>
          </p:cNvPr>
          <p:cNvSpPr txBox="1"/>
          <p:nvPr/>
        </p:nvSpPr>
        <p:spPr>
          <a:xfrm>
            <a:off x="762000" y="2095500"/>
            <a:ext cx="10160000" cy="4680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i="1">
                <a:solidFill>
                  <a:srgbClr val="2B5582"/>
                </a:solidFill>
                <a:latin typeface="Segoe UI Light" panose="020B0502040204020203" pitchFamily="34" charset="0"/>
              </a:rPr>
              <a:t>Tu iglesia visible.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C423C-898F-2CC5-4890-1315199E2408}"/>
              </a:ext>
            </a:extLst>
          </p:cNvPr>
          <p:cNvSpPr/>
          <p:nvPr/>
        </p:nvSpPr>
        <p:spPr>
          <a:xfrm>
            <a:off x="762000" y="3175000"/>
            <a:ext cx="5207000" cy="3048000"/>
          </a:xfrm>
          <a:prstGeom prst="rect">
            <a:avLst/>
          </a:prstGeom>
          <a:solidFill>
            <a:srgbClr val="F4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CC009-D3D4-918F-59ED-82FB9F89CA27}"/>
              </a:ext>
            </a:extLst>
          </p:cNvPr>
          <p:cNvSpPr/>
          <p:nvPr/>
        </p:nvSpPr>
        <p:spPr>
          <a:xfrm>
            <a:off x="762000" y="3175000"/>
            <a:ext cx="5207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12EB0-89E1-B9FE-4403-670CE0C255D3}"/>
              </a:ext>
            </a:extLst>
          </p:cNvPr>
          <p:cNvSpPr txBox="1"/>
          <p:nvPr/>
        </p:nvSpPr>
        <p:spPr>
          <a:xfrm>
            <a:off x="1016000" y="34290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PERSONAS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B30E5-141E-D5DC-6AD1-8D3B7F1EEEF7}"/>
              </a:ext>
            </a:extLst>
          </p:cNvPr>
          <p:cNvSpPr txBox="1"/>
          <p:nvPr/>
        </p:nvSpPr>
        <p:spPr>
          <a:xfrm>
            <a:off x="1016000" y="3746500"/>
            <a:ext cx="4699000" cy="2807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s-ES" b="1">
                <a:solidFill>
                  <a:srgbClr val="1A365D"/>
                </a:solidFill>
                <a:latin typeface="Segoe UI Light" panose="020B0502040204020203" pitchFamily="34" charset="0"/>
              </a:rPr>
              <a:t>Una sola base de tu congregacion.</a:t>
            </a:r>
            <a:endParaRPr lang="en-US" b="1">
              <a:solidFill>
                <a:srgbClr val="1A365D"/>
              </a:solidFill>
              <a:latin typeface="Segoe UI Ligh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4333FE-9CC9-2309-E05F-E6D13DC7AC92}"/>
              </a:ext>
            </a:extLst>
          </p:cNvPr>
          <p:cNvSpPr txBox="1"/>
          <p:nvPr/>
        </p:nvSpPr>
        <p:spPr>
          <a:xfrm>
            <a:off x="1016000" y="4381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Miembros activos.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151E2F-3B48-2B62-2A2A-DA83A2C30622}"/>
              </a:ext>
            </a:extLst>
          </p:cNvPr>
          <p:cNvSpPr txBox="1"/>
          <p:nvPr/>
        </p:nvSpPr>
        <p:spPr>
          <a:xfrm>
            <a:off x="1016000" y="4584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Visitantes nuevos.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41B070-A88C-AF1F-B11C-A7E9AFF168CC}"/>
              </a:ext>
            </a:extLst>
          </p:cNvPr>
          <p:cNvSpPr txBox="1"/>
          <p:nvPr/>
        </p:nvSpPr>
        <p:spPr>
          <a:xfrm>
            <a:off x="1016000" y="47879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Donantes regulares.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1D5FC6-9D90-1115-41EA-64A9BE242FB3}"/>
              </a:ext>
            </a:extLst>
          </p:cNvPr>
          <p:cNvSpPr txBox="1"/>
          <p:nvPr/>
        </p:nvSpPr>
        <p:spPr>
          <a:xfrm>
            <a:off x="1016000" y="49911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Servidores y lideres.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F49B0-9EFC-30D9-37A6-C6672AB260E6}"/>
              </a:ext>
            </a:extLst>
          </p:cNvPr>
          <p:cNvSpPr txBox="1"/>
          <p:nvPr/>
        </p:nvSpPr>
        <p:spPr>
          <a:xfrm>
            <a:off x="1016000" y="51943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Inactivos identificados.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90DE4A-FBEC-FF85-9FD2-08F5DF44F42E}"/>
              </a:ext>
            </a:extLst>
          </p:cNvPr>
          <p:cNvSpPr txBox="1"/>
          <p:nvPr/>
        </p:nvSpPr>
        <p:spPr>
          <a:xfrm>
            <a:off x="1016000" y="5397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49C37C-8480-DC4C-98C1-B99A83C516ED}"/>
              </a:ext>
            </a:extLst>
          </p:cNvPr>
          <p:cNvSpPr txBox="1"/>
          <p:nvPr/>
        </p:nvSpPr>
        <p:spPr>
          <a:xfrm>
            <a:off x="1016000" y="5600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Una sola base. Sin Excel.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497965-3D38-8593-2ED3-6B5CEE25B77D}"/>
              </a:ext>
            </a:extLst>
          </p:cNvPr>
          <p:cNvSpPr txBox="1"/>
          <p:nvPr/>
        </p:nvSpPr>
        <p:spPr>
          <a:xfrm>
            <a:off x="1016000" y="58039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Sin libretas. Sin perdidas.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592E2-8074-41C1-72F9-761B7A722353}"/>
              </a:ext>
            </a:extLst>
          </p:cNvPr>
          <p:cNvSpPr/>
          <p:nvPr/>
        </p:nvSpPr>
        <p:spPr>
          <a:xfrm>
            <a:off x="6223000" y="3175000"/>
            <a:ext cx="5207000" cy="3048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7CCE44-12A6-90D5-ACEB-4E7BD91C8C04}"/>
              </a:ext>
            </a:extLst>
          </p:cNvPr>
          <p:cNvSpPr/>
          <p:nvPr/>
        </p:nvSpPr>
        <p:spPr>
          <a:xfrm>
            <a:off x="6223000" y="3175000"/>
            <a:ext cx="5207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403D50-3B6A-8C0E-B416-FA0896A427C4}"/>
              </a:ext>
            </a:extLst>
          </p:cNvPr>
          <p:cNvSpPr txBox="1"/>
          <p:nvPr/>
        </p:nvSpPr>
        <p:spPr>
          <a:xfrm>
            <a:off x="6477000" y="34290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CC38C"/>
                </a:solidFill>
                <a:latin typeface="Segoe UI" panose="020B0502040204020203" pitchFamily="34" charset="0"/>
              </a:rPr>
              <a:t>PORTAL PUBLICO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AA8133-CEF7-AEAC-957E-45348DCB0638}"/>
              </a:ext>
            </a:extLst>
          </p:cNvPr>
          <p:cNvSpPr txBox="1"/>
          <p:nvPr/>
        </p:nvSpPr>
        <p:spPr>
          <a:xfrm>
            <a:off x="6477000" y="3746500"/>
            <a:ext cx="4699000" cy="2807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>
                <a:solidFill>
                  <a:srgbClr val="FFFFFF"/>
                </a:solidFill>
                <a:latin typeface="Segoe UI Light" panose="020B0502040204020203" pitchFamily="34" charset="0"/>
              </a:rPr>
              <a:t>Una pagina propia por iglesia.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19A1BA-86CF-E059-0A3E-0C40E3A05D13}"/>
              </a:ext>
            </a:extLst>
          </p:cNvPr>
          <p:cNvSpPr txBox="1"/>
          <p:nvPr/>
        </p:nvSpPr>
        <p:spPr>
          <a:xfrm>
            <a:off x="6477000" y="4381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FAF8F3"/>
                </a:solidFill>
                <a:latin typeface="Segoe UI" panose="020B0502040204020203" pitchFamily="34" charset="0"/>
              </a:rPr>
              <a:t>Informacion oficial de la iglesia.</a:t>
            </a:r>
            <a:endParaRPr lang="en-US" sz="1000">
              <a:solidFill>
                <a:srgbClr val="FAF8F3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BA2F4B-CF42-B709-FC1E-A0FDC27ECA15}"/>
              </a:ext>
            </a:extLst>
          </p:cNvPr>
          <p:cNvSpPr txBox="1"/>
          <p:nvPr/>
        </p:nvSpPr>
        <p:spPr>
          <a:xfrm>
            <a:off x="6477000" y="4584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Horarios y servicios.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DDF331-1354-CAE7-4B4D-0B411A329CF9}"/>
              </a:ext>
            </a:extLst>
          </p:cNvPr>
          <p:cNvSpPr txBox="1"/>
          <p:nvPr/>
        </p:nvSpPr>
        <p:spPr>
          <a:xfrm>
            <a:off x="6477000" y="47879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Campanas activas con progreso.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FF84D1-9B24-7B48-EE6E-61A343289636}"/>
              </a:ext>
            </a:extLst>
          </p:cNvPr>
          <p:cNvSpPr txBox="1"/>
          <p:nvPr/>
        </p:nvSpPr>
        <p:spPr>
          <a:xfrm>
            <a:off x="6477000" y="49911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Intencion de donacion publica.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8EC4AB-A8E8-EFFC-6966-D57CACC8C1E5}"/>
              </a:ext>
            </a:extLst>
          </p:cNvPr>
          <p:cNvSpPr txBox="1"/>
          <p:nvPr/>
        </p:nvSpPr>
        <p:spPr>
          <a:xfrm>
            <a:off x="6477000" y="51943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US" sz="1000">
              <a:solidFill>
                <a:srgbClr val="FAF8F3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7869F8-A6E5-87C4-CB1A-526043453DDD}"/>
              </a:ext>
            </a:extLst>
          </p:cNvPr>
          <p:cNvSpPr txBox="1"/>
          <p:nvPr/>
        </p:nvSpPr>
        <p:spPr>
          <a:xfrm>
            <a:off x="6477000" y="53975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Imagen profesional.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B8D414-4BDC-2649-D7AF-32034D07C092}"/>
              </a:ext>
            </a:extLst>
          </p:cNvPr>
          <p:cNvSpPr txBox="1"/>
          <p:nvPr/>
        </p:nvSpPr>
        <p:spPr>
          <a:xfrm>
            <a:off x="6477000" y="56007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Captacion ampliada.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3AE536-766B-0029-9CA2-FEC9497038B6}"/>
              </a:ext>
            </a:extLst>
          </p:cNvPr>
          <p:cNvSpPr txBox="1"/>
          <p:nvPr/>
        </p:nvSpPr>
        <p:spPr>
          <a:xfrm>
            <a:off x="6477000" y="58039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Lista para donaciones online.</a:t>
            </a:r>
          </a:p>
        </p:txBody>
      </p:sp>
    </p:spTree>
    <p:extLst>
      <p:ext uri="{BB962C8B-B14F-4D97-AF65-F5344CB8AC3E}">
        <p14:creationId xmlns:p14="http://schemas.microsoft.com/office/powerpoint/2010/main" val="354266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7B87C9-BC9E-70B8-C627-8D60808E7D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D30F9-4434-0C19-95F3-3939219DA52F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45F6E-65FA-73E8-C034-62FA94340FCD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07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856242-1C86-9B0B-570A-522204F8E3E9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449FA-47A3-58C9-3E53-2F142986E892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DECISIONES INFORMADAS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D2047-7B12-3073-D729-5F581BE8C5E1}"/>
              </a:ext>
            </a:extLst>
          </p:cNvPr>
          <p:cNvSpPr txBox="1"/>
          <p:nvPr/>
        </p:nvSpPr>
        <p:spPr>
          <a:xfrm>
            <a:off x="762000" y="1524000"/>
            <a:ext cx="10160000" cy="4680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1A365D"/>
                </a:solidFill>
                <a:latin typeface="Segoe UI Light" panose="020B0502040204020203" pitchFamily="34" charset="0"/>
              </a:rPr>
              <a:t>Cuando el liderazgo pregunta,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3A44F-097C-B59A-618E-6DCA0EBD8D18}"/>
              </a:ext>
            </a:extLst>
          </p:cNvPr>
          <p:cNvSpPr txBox="1"/>
          <p:nvPr/>
        </p:nvSpPr>
        <p:spPr>
          <a:xfrm>
            <a:off x="762000" y="2057400"/>
            <a:ext cx="10160000" cy="4680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i="1">
                <a:solidFill>
                  <a:srgbClr val="2B5582"/>
                </a:solidFill>
                <a:latin typeface="Segoe UI Light" panose="020B0502040204020203" pitchFamily="34" charset="0"/>
              </a:rPr>
              <a:t>el sistema responde.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3BCA35-9A93-743B-B843-B48280C353E8}"/>
              </a:ext>
            </a:extLst>
          </p:cNvPr>
          <p:cNvSpPr/>
          <p:nvPr/>
        </p:nvSpPr>
        <p:spPr>
          <a:xfrm>
            <a:off x="762000" y="3175000"/>
            <a:ext cx="2540000" cy="1651000"/>
          </a:xfrm>
          <a:prstGeom prst="rect">
            <a:avLst/>
          </a:prstGeom>
          <a:solidFill>
            <a:srgbClr val="FAF8F3"/>
          </a:solidFill>
          <a:ln w="63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6ED4D-0ACA-9E9D-160E-E6E9211C4014}"/>
              </a:ext>
            </a:extLst>
          </p:cNvPr>
          <p:cNvSpPr/>
          <p:nvPr/>
        </p:nvSpPr>
        <p:spPr>
          <a:xfrm>
            <a:off x="762000" y="3175000"/>
            <a:ext cx="2540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78BA1A-A9AA-9C7D-A052-C7DA024D988F}"/>
              </a:ext>
            </a:extLst>
          </p:cNvPr>
          <p:cNvSpPr txBox="1"/>
          <p:nvPr/>
        </p:nvSpPr>
        <p:spPr>
          <a:xfrm>
            <a:off x="965200" y="3403600"/>
            <a:ext cx="2133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7A151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51400F-F78F-2B00-FDA9-84F0FEFE6C92}"/>
              </a:ext>
            </a:extLst>
          </p:cNvPr>
          <p:cNvSpPr txBox="1"/>
          <p:nvPr/>
        </p:nvSpPr>
        <p:spPr>
          <a:xfrm>
            <a:off x="965200" y="3657600"/>
            <a:ext cx="2133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Por periodo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02E53-9B98-811F-C551-6D3DEA0DFE68}"/>
              </a:ext>
            </a:extLst>
          </p:cNvPr>
          <p:cNvSpPr txBox="1"/>
          <p:nvPr/>
        </p:nvSpPr>
        <p:spPr>
          <a:xfrm>
            <a:off x="965200" y="4089400"/>
            <a:ext cx="2133600" cy="1790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Semana, mes, trimestre, ano.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43EECA-01E2-B941-4C66-A84D90DE4A9A}"/>
              </a:ext>
            </a:extLst>
          </p:cNvPr>
          <p:cNvSpPr/>
          <p:nvPr/>
        </p:nvSpPr>
        <p:spPr>
          <a:xfrm>
            <a:off x="3479800" y="3175000"/>
            <a:ext cx="2540000" cy="1651000"/>
          </a:xfrm>
          <a:prstGeom prst="rect">
            <a:avLst/>
          </a:prstGeom>
          <a:solidFill>
            <a:srgbClr val="FAF8F3"/>
          </a:solidFill>
          <a:ln w="63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EFC0D0-92E3-E5C1-7CEC-082CE974CDFC}"/>
              </a:ext>
            </a:extLst>
          </p:cNvPr>
          <p:cNvSpPr/>
          <p:nvPr/>
        </p:nvSpPr>
        <p:spPr>
          <a:xfrm>
            <a:off x="3479800" y="3175000"/>
            <a:ext cx="2540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C75FB1-3CE8-7152-DFCE-3DFF8652BEB7}"/>
              </a:ext>
            </a:extLst>
          </p:cNvPr>
          <p:cNvSpPr txBox="1"/>
          <p:nvPr/>
        </p:nvSpPr>
        <p:spPr>
          <a:xfrm>
            <a:off x="3683000" y="3403600"/>
            <a:ext cx="2133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7A151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B50297-D99B-2F42-6337-FDA4F1BB9B6F}"/>
              </a:ext>
            </a:extLst>
          </p:cNvPr>
          <p:cNvSpPr txBox="1"/>
          <p:nvPr/>
        </p:nvSpPr>
        <p:spPr>
          <a:xfrm>
            <a:off x="3683000" y="3657600"/>
            <a:ext cx="2133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Por fondo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D4CCE4-C997-29A9-B7D0-ED7D9304911B}"/>
              </a:ext>
            </a:extLst>
          </p:cNvPr>
          <p:cNvSpPr txBox="1"/>
          <p:nvPr/>
        </p:nvSpPr>
        <p:spPr>
          <a:xfrm>
            <a:off x="3683000" y="4089400"/>
            <a:ext cx="2133600" cy="1790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General, misiones, construccion.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74ECFC-8276-7C1B-166E-96AA578F7F5F}"/>
              </a:ext>
            </a:extLst>
          </p:cNvPr>
          <p:cNvSpPr/>
          <p:nvPr/>
        </p:nvSpPr>
        <p:spPr>
          <a:xfrm>
            <a:off x="6197600" y="3175000"/>
            <a:ext cx="2540000" cy="1651000"/>
          </a:xfrm>
          <a:prstGeom prst="rect">
            <a:avLst/>
          </a:prstGeom>
          <a:solidFill>
            <a:srgbClr val="FAF8F3"/>
          </a:solidFill>
          <a:ln w="63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7DE65F-640E-B8BD-FD6C-944A8639A165}"/>
              </a:ext>
            </a:extLst>
          </p:cNvPr>
          <p:cNvSpPr/>
          <p:nvPr/>
        </p:nvSpPr>
        <p:spPr>
          <a:xfrm>
            <a:off x="6197600" y="3175000"/>
            <a:ext cx="2540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E01F01-98EF-ADBE-13B7-430B11B6D2D4}"/>
              </a:ext>
            </a:extLst>
          </p:cNvPr>
          <p:cNvSpPr txBox="1"/>
          <p:nvPr/>
        </p:nvSpPr>
        <p:spPr>
          <a:xfrm>
            <a:off x="6400800" y="3403600"/>
            <a:ext cx="2133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7A151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01D201-FD2D-6204-5DF8-6AACB096C147}"/>
              </a:ext>
            </a:extLst>
          </p:cNvPr>
          <p:cNvSpPr txBox="1"/>
          <p:nvPr/>
        </p:nvSpPr>
        <p:spPr>
          <a:xfrm>
            <a:off x="6400800" y="3657600"/>
            <a:ext cx="2133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Por campana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7BF4BB-E4B3-09A5-15A9-A536A982064F}"/>
              </a:ext>
            </a:extLst>
          </p:cNvPr>
          <p:cNvSpPr txBox="1"/>
          <p:nvPr/>
        </p:nvSpPr>
        <p:spPr>
          <a:xfrm>
            <a:off x="6400800" y="4089400"/>
            <a:ext cx="2133600" cy="1790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Recaudado real vs. meta.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99B9AD-EEA7-792B-B7A7-163742B30C7E}"/>
              </a:ext>
            </a:extLst>
          </p:cNvPr>
          <p:cNvSpPr/>
          <p:nvPr/>
        </p:nvSpPr>
        <p:spPr>
          <a:xfrm>
            <a:off x="8915400" y="3175000"/>
            <a:ext cx="2540000" cy="1651000"/>
          </a:xfrm>
          <a:prstGeom prst="rect">
            <a:avLst/>
          </a:prstGeom>
          <a:solidFill>
            <a:srgbClr val="FAF8F3"/>
          </a:solidFill>
          <a:ln w="63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66787A-B78A-3CB1-D88C-50E9F60E877B}"/>
              </a:ext>
            </a:extLst>
          </p:cNvPr>
          <p:cNvSpPr/>
          <p:nvPr/>
        </p:nvSpPr>
        <p:spPr>
          <a:xfrm>
            <a:off x="8915400" y="3175000"/>
            <a:ext cx="2540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2BBA7F-45EE-426A-45E6-C29A55AD3F3A}"/>
              </a:ext>
            </a:extLst>
          </p:cNvPr>
          <p:cNvSpPr txBox="1"/>
          <p:nvPr/>
        </p:nvSpPr>
        <p:spPr>
          <a:xfrm>
            <a:off x="9118600" y="3403600"/>
            <a:ext cx="2133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7A151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19DF43-459A-45A1-9F69-ED9F8047120A}"/>
              </a:ext>
            </a:extLst>
          </p:cNvPr>
          <p:cNvSpPr txBox="1"/>
          <p:nvPr/>
        </p:nvSpPr>
        <p:spPr>
          <a:xfrm>
            <a:off x="9118600" y="3657600"/>
            <a:ext cx="2133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365D"/>
                </a:solidFill>
                <a:latin typeface="Segoe UI" panose="020B0502040204020203" pitchFamily="34" charset="0"/>
              </a:rPr>
              <a:t>Por donante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3A9256-B78B-C32E-FBE5-E86A92BA5E68}"/>
              </a:ext>
            </a:extLst>
          </p:cNvPr>
          <p:cNvSpPr txBox="1"/>
          <p:nvPr/>
        </p:nvSpPr>
        <p:spPr>
          <a:xfrm>
            <a:off x="9118600" y="4089400"/>
            <a:ext cx="2133600" cy="1790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Historial completo y exportable.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26B110-76CC-7DC9-B106-6916303B5A07}"/>
              </a:ext>
            </a:extLst>
          </p:cNvPr>
          <p:cNvSpPr/>
          <p:nvPr/>
        </p:nvSpPr>
        <p:spPr>
          <a:xfrm>
            <a:off x="762000" y="5334000"/>
            <a:ext cx="76200" cy="7620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F99EE4-F185-350F-392A-B9C8913B70B6}"/>
              </a:ext>
            </a:extLst>
          </p:cNvPr>
          <p:cNvSpPr txBox="1"/>
          <p:nvPr/>
        </p:nvSpPr>
        <p:spPr>
          <a:xfrm>
            <a:off x="1016000" y="5397500"/>
            <a:ext cx="10414000" cy="2807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>
                <a:solidFill>
                  <a:srgbClr val="1A365D"/>
                </a:solidFill>
                <a:latin typeface="Segoe UI Light" panose="020B0502040204020203" pitchFamily="34" charset="0"/>
              </a:rPr>
              <a:t>Menos Excel. Mas claridad.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F3FA3E-1F23-931A-9451-65DAEB5B1783}"/>
              </a:ext>
            </a:extLst>
          </p:cNvPr>
          <p:cNvSpPr txBox="1"/>
          <p:nvPr/>
        </p:nvSpPr>
        <p:spPr>
          <a:xfrm>
            <a:off x="1016000" y="5778500"/>
            <a:ext cx="10414000" cy="2010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200" i="1">
                <a:solidFill>
                  <a:srgbClr val="718096"/>
                </a:solidFill>
                <a:latin typeface="Segoe UI" panose="020B0502040204020203" pitchFamily="34" charset="0"/>
              </a:rPr>
              <a:t>Exportaciones listas para el contador en segundos.</a:t>
            </a:r>
            <a:endParaRPr lang="en-US" sz="1200" i="1">
              <a:solidFill>
                <a:srgbClr val="71809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0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F003FE-90A9-8438-6FF6-04F447D3E6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6C6E9-10A6-4A25-F4BF-CD78790C6314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75F92-B3BA-B1A4-BA03-AE2B66288880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08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8ABD5-45C8-E21C-8A37-1A22CC801940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5444D-40B0-5E80-1FD1-B7E2080A89CA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PRECIO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99894-C481-355A-22BC-F8EE035DAF9C}"/>
              </a:ext>
            </a:extLst>
          </p:cNvPr>
          <p:cNvSpPr txBox="1"/>
          <p:nvPr/>
        </p:nvSpPr>
        <p:spPr>
          <a:xfrm>
            <a:off x="762000" y="1524000"/>
            <a:ext cx="10160000" cy="4367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s-ES" sz="2800" b="1">
                <a:solidFill>
                  <a:srgbClr val="1A365D"/>
                </a:solidFill>
                <a:latin typeface="Segoe UI Light" panose="020B0502040204020203" pitchFamily="34" charset="0"/>
              </a:rPr>
              <a:t>Un solo plan. Todo incluido.</a:t>
            </a:r>
            <a:endParaRPr lang="en-US" sz="2800" b="1">
              <a:solidFill>
                <a:srgbClr val="1A365D"/>
              </a:solidFill>
              <a:latin typeface="Segoe UI Ligh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FDF2A-A6EF-1D4F-33B2-1A75A557F3FA}"/>
              </a:ext>
            </a:extLst>
          </p:cNvPr>
          <p:cNvSpPr/>
          <p:nvPr/>
        </p:nvSpPr>
        <p:spPr>
          <a:xfrm>
            <a:off x="762000" y="2667000"/>
            <a:ext cx="6858000" cy="2921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183E4-F9BE-3DC6-43EF-1A7D8994B3E5}"/>
              </a:ext>
            </a:extLst>
          </p:cNvPr>
          <p:cNvSpPr/>
          <p:nvPr/>
        </p:nvSpPr>
        <p:spPr>
          <a:xfrm>
            <a:off x="762000" y="2667000"/>
            <a:ext cx="101600" cy="29210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6A290-22FC-C7D4-4C0B-747DFD18AFED}"/>
              </a:ext>
            </a:extLst>
          </p:cNvPr>
          <p:cNvSpPr txBox="1"/>
          <p:nvPr/>
        </p:nvSpPr>
        <p:spPr>
          <a:xfrm>
            <a:off x="1270000" y="2921000"/>
            <a:ext cx="609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DCC38C"/>
                </a:solidFill>
                <a:latin typeface="Segoe UI" panose="020B0502040204020203" pitchFamily="34" charset="0"/>
              </a:rPr>
              <a:t>PLAN MINISTERIO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51BF6-F382-394C-22D5-5004907B6C8A}"/>
              </a:ext>
            </a:extLst>
          </p:cNvPr>
          <p:cNvSpPr txBox="1"/>
          <p:nvPr/>
        </p:nvSpPr>
        <p:spPr>
          <a:xfrm>
            <a:off x="1270000" y="3302000"/>
            <a:ext cx="35560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0" b="1">
                <a:solidFill>
                  <a:srgbClr val="FFFFFF"/>
                </a:solidFill>
                <a:latin typeface="Segoe UI Light" panose="020B0502040204020203" pitchFamily="34" charset="0"/>
              </a:rPr>
              <a:t>$25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1C36C8-ADBA-6526-CB69-20E69C0F873E}"/>
              </a:ext>
            </a:extLst>
          </p:cNvPr>
          <p:cNvSpPr txBox="1"/>
          <p:nvPr/>
        </p:nvSpPr>
        <p:spPr>
          <a:xfrm>
            <a:off x="4064000" y="40640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DCC38C"/>
                </a:solidFill>
                <a:latin typeface="Segoe UI Light" panose="020B0502040204020203" pitchFamily="34" charset="0"/>
              </a:rPr>
              <a:t>/ 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B8EA4-5D6E-541E-660C-B813DBCD9E3C}"/>
              </a:ext>
            </a:extLst>
          </p:cNvPr>
          <p:cNvSpPr txBox="1"/>
          <p:nvPr/>
        </p:nvSpPr>
        <p:spPr>
          <a:xfrm>
            <a:off x="1270000" y="5016500"/>
            <a:ext cx="6096000" cy="1842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100" i="1">
                <a:solidFill>
                  <a:srgbClr val="FAF8F3"/>
                </a:solidFill>
                <a:latin typeface="Segoe UI" panose="020B0502040204020203" pitchFamily="34" charset="0"/>
              </a:rPr>
              <a:t>Sin contrato a largo plazo. Cancela cuando quieras.</a:t>
            </a:r>
            <a:endParaRPr lang="en-US" sz="1100" i="1">
              <a:solidFill>
                <a:srgbClr val="FAF8F3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3C2493-53C1-E990-A14B-48C214916A42}"/>
              </a:ext>
            </a:extLst>
          </p:cNvPr>
          <p:cNvSpPr txBox="1"/>
          <p:nvPr/>
        </p:nvSpPr>
        <p:spPr>
          <a:xfrm>
            <a:off x="8001000" y="27940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INCLUYE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A5B13A-DBA7-8FCA-8F04-529269316807}"/>
              </a:ext>
            </a:extLst>
          </p:cNvPr>
          <p:cNvSpPr/>
          <p:nvPr/>
        </p:nvSpPr>
        <p:spPr>
          <a:xfrm>
            <a:off x="8001000" y="32512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ABDAF7-44FC-D385-A42C-1BD3CAC78089}"/>
              </a:ext>
            </a:extLst>
          </p:cNvPr>
          <p:cNvSpPr txBox="1"/>
          <p:nvPr/>
        </p:nvSpPr>
        <p:spPr>
          <a:xfrm>
            <a:off x="8153400" y="31750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Panel administrativo completo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799F7-0A93-E5BF-4BAC-990702C61BA6}"/>
              </a:ext>
            </a:extLst>
          </p:cNvPr>
          <p:cNvSpPr/>
          <p:nvPr/>
        </p:nvSpPr>
        <p:spPr>
          <a:xfrm>
            <a:off x="8001000" y="35306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7555FD-C326-E594-2829-4057A11A8F3E}"/>
              </a:ext>
            </a:extLst>
          </p:cNvPr>
          <p:cNvSpPr txBox="1"/>
          <p:nvPr/>
        </p:nvSpPr>
        <p:spPr>
          <a:xfrm>
            <a:off x="8153400" y="34544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Portal publico por iglesia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E7E978-AB48-B9C4-DCBB-0056BDEAF9AA}"/>
              </a:ext>
            </a:extLst>
          </p:cNvPr>
          <p:cNvSpPr/>
          <p:nvPr/>
        </p:nvSpPr>
        <p:spPr>
          <a:xfrm>
            <a:off x="8001000" y="38100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C12C84-8FA4-B6D7-7598-8242B2438A83}"/>
              </a:ext>
            </a:extLst>
          </p:cNvPr>
          <p:cNvSpPr txBox="1"/>
          <p:nvPr/>
        </p:nvSpPr>
        <p:spPr>
          <a:xfrm>
            <a:off x="8153400" y="37338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Personas y donaciones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C38229-E74D-F828-192B-A31A45C319BB}"/>
              </a:ext>
            </a:extLst>
          </p:cNvPr>
          <p:cNvSpPr/>
          <p:nvPr/>
        </p:nvSpPr>
        <p:spPr>
          <a:xfrm>
            <a:off x="8001000" y="40894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26FFF4-86B0-6341-A9FF-7DCD2429B50C}"/>
              </a:ext>
            </a:extLst>
          </p:cNvPr>
          <p:cNvSpPr txBox="1"/>
          <p:nvPr/>
        </p:nvSpPr>
        <p:spPr>
          <a:xfrm>
            <a:off x="8153400" y="40132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Campanas con metas visibles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C9913F-1743-41AA-8D6F-7FBF32B0CAF6}"/>
              </a:ext>
            </a:extLst>
          </p:cNvPr>
          <p:cNvSpPr/>
          <p:nvPr/>
        </p:nvSpPr>
        <p:spPr>
          <a:xfrm>
            <a:off x="8001000" y="43688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813DF-BBA9-EE5A-C28C-B70EB614459A}"/>
              </a:ext>
            </a:extLst>
          </p:cNvPr>
          <p:cNvSpPr txBox="1"/>
          <p:nvPr/>
        </p:nvSpPr>
        <p:spPr>
          <a:xfrm>
            <a:off x="8153400" y="42926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Comprobantes oficiales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76022C-2D88-8AD7-D8D0-991BD9842052}"/>
              </a:ext>
            </a:extLst>
          </p:cNvPr>
          <p:cNvSpPr/>
          <p:nvPr/>
        </p:nvSpPr>
        <p:spPr>
          <a:xfrm>
            <a:off x="8001000" y="46482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CAE565-6468-C8C5-E4B6-6539563AEEC5}"/>
              </a:ext>
            </a:extLst>
          </p:cNvPr>
          <p:cNvSpPr txBox="1"/>
          <p:nvPr/>
        </p:nvSpPr>
        <p:spPr>
          <a:xfrm>
            <a:off x="8153400" y="45720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Reportes y exportaciones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46C6AE-E616-60E1-AE16-5F576AFD0BFE}"/>
              </a:ext>
            </a:extLst>
          </p:cNvPr>
          <p:cNvSpPr/>
          <p:nvPr/>
        </p:nvSpPr>
        <p:spPr>
          <a:xfrm>
            <a:off x="8001000" y="49276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A537BB-E9F4-14FE-80A5-72DC9CA491A2}"/>
              </a:ext>
            </a:extLst>
          </p:cNvPr>
          <p:cNvSpPr txBox="1"/>
          <p:nvPr/>
        </p:nvSpPr>
        <p:spPr>
          <a:xfrm>
            <a:off x="8153400" y="48514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2D3748"/>
                </a:solidFill>
                <a:latin typeface="Segoe UI" panose="020B0502040204020203" pitchFamily="34" charset="0"/>
              </a:rPr>
              <a:t>Usuarios y permisos por rol</a:t>
            </a:r>
            <a:endParaRPr lang="en-US" sz="1000">
              <a:solidFill>
                <a:srgbClr val="2D374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EF9082-5EAC-4FB3-42F3-929E12BAC79D}"/>
              </a:ext>
            </a:extLst>
          </p:cNvPr>
          <p:cNvSpPr/>
          <p:nvPr/>
        </p:nvSpPr>
        <p:spPr>
          <a:xfrm>
            <a:off x="8001000" y="5207000"/>
            <a:ext cx="508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9541E5-B772-875E-F5D4-92F60DB2ACD1}"/>
              </a:ext>
            </a:extLst>
          </p:cNvPr>
          <p:cNvSpPr txBox="1"/>
          <p:nvPr/>
        </p:nvSpPr>
        <p:spPr>
          <a:xfrm>
            <a:off x="8153400" y="51308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2D3748"/>
                </a:solidFill>
                <a:latin typeface="Segoe UI" panose="020B0502040204020203" pitchFamily="34" charset="0"/>
              </a:rPr>
              <a:t>Soporte inicial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FD4BC2-6E58-69CA-C694-E4199A0154AB}"/>
              </a:ext>
            </a:extLst>
          </p:cNvPr>
          <p:cNvSpPr/>
          <p:nvPr/>
        </p:nvSpPr>
        <p:spPr>
          <a:xfrm>
            <a:off x="762000" y="5778500"/>
            <a:ext cx="10668000" cy="38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3E3B4B-6FD4-8248-8E10-BE3A79A45EED}"/>
              </a:ext>
            </a:extLst>
          </p:cNvPr>
          <p:cNvSpPr txBox="1"/>
          <p:nvPr/>
        </p:nvSpPr>
        <p:spPr>
          <a:xfrm>
            <a:off x="1016000" y="58674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 b="1">
                <a:solidFill>
                  <a:srgbClr val="1A365D"/>
                </a:solidFill>
                <a:latin typeface="Segoe UI" panose="020B0502040204020203" pitchFamily="34" charset="0"/>
              </a:rPr>
              <a:t>SETUP OPCIONAL  Â·  Desde $99  Â·  Configuracion inicial + capacitacion</a:t>
            </a:r>
            <a:endParaRPr lang="en-US" sz="1000" b="1">
              <a:solidFill>
                <a:srgbClr val="1A365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974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DC1166-7F61-874F-1CF3-40409AE7CD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47D42-46AE-D592-8806-55ECB3B572FE}"/>
              </a:ext>
            </a:extLst>
          </p:cNvPr>
          <p:cNvSpPr txBox="1"/>
          <p:nvPr/>
        </p:nvSpPr>
        <p:spPr>
          <a:xfrm>
            <a:off x="762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18096"/>
                </a:solidFill>
                <a:latin typeface="Segoe UI" panose="020B0502040204020203" pitchFamily="34" charset="0"/>
              </a:rPr>
              <a:t>SISTEMA DE ADMINISTRACION PARA IGLESIAS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1D4D6-F036-3F7D-0A5E-FF857DFA7430}"/>
              </a:ext>
            </a:extLst>
          </p:cNvPr>
          <p:cNvSpPr txBox="1"/>
          <p:nvPr/>
        </p:nvSpPr>
        <p:spPr>
          <a:xfrm>
            <a:off x="6350000" y="64770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1A365D"/>
                </a:solidFill>
                <a:latin typeface="Segoe UI" panose="020B0502040204020203" pitchFamily="34" charset="0"/>
              </a:rPr>
              <a:t>09  /  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ED52B-5FD6-D5A4-83AF-AE981518B7B8}"/>
              </a:ext>
            </a:extLst>
          </p:cNvPr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E271C-2E35-E2B4-16FF-791C4DDCD8A1}"/>
              </a:ext>
            </a:extLst>
          </p:cNvPr>
          <p:cNvSpPr txBox="1"/>
          <p:nvPr/>
        </p:nvSpPr>
        <p:spPr>
          <a:xfrm>
            <a:off x="762000" y="11430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OPORTUNIDAD COMERCIAL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D4BCCA-E487-E5A0-D71A-30D6BF48B7CA}"/>
              </a:ext>
            </a:extLst>
          </p:cNvPr>
          <p:cNvSpPr txBox="1"/>
          <p:nvPr/>
        </p:nvSpPr>
        <p:spPr>
          <a:xfrm>
            <a:off x="762000" y="1524000"/>
            <a:ext cx="10160000" cy="4991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1A365D"/>
                </a:solidFill>
                <a:latin typeface="Segoe UI Light" panose="020B0502040204020203" pitchFamily="34" charset="0"/>
              </a:rPr>
              <a:t>Modelo claro.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96A86-73E8-49A4-2524-079156C0637B}"/>
              </a:ext>
            </a:extLst>
          </p:cNvPr>
          <p:cNvSpPr txBox="1"/>
          <p:nvPr/>
        </p:nvSpPr>
        <p:spPr>
          <a:xfrm>
            <a:off x="762000" y="2057400"/>
            <a:ext cx="10160000" cy="4367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i="1">
                <a:solidFill>
                  <a:srgbClr val="2B5582"/>
                </a:solidFill>
                <a:latin typeface="Segoe UI Light" panose="020B0502040204020203" pitchFamily="34" charset="0"/>
              </a:rPr>
              <a:t>Crecimiento sostenible.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23CCDB-A1BB-75DD-1610-574B539E7E8A}"/>
              </a:ext>
            </a:extLst>
          </p:cNvPr>
          <p:cNvSpPr/>
          <p:nvPr/>
        </p:nvSpPr>
        <p:spPr>
          <a:xfrm>
            <a:off x="762000" y="3175000"/>
            <a:ext cx="5207000" cy="3048000"/>
          </a:xfrm>
          <a:prstGeom prst="rect">
            <a:avLst/>
          </a:prstGeom>
          <a:solidFill>
            <a:srgbClr val="F4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39B47-E4DA-0093-F001-0A739E8B99FF}"/>
              </a:ext>
            </a:extLst>
          </p:cNvPr>
          <p:cNvSpPr/>
          <p:nvPr/>
        </p:nvSpPr>
        <p:spPr>
          <a:xfrm>
            <a:off x="762000" y="3175000"/>
            <a:ext cx="5207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75183B-8492-29A9-3E5E-13AE2ED76006}"/>
              </a:ext>
            </a:extLst>
          </p:cNvPr>
          <p:cNvSpPr txBox="1"/>
          <p:nvPr/>
        </p:nvSpPr>
        <p:spPr>
          <a:xfrm>
            <a:off x="1016000" y="34290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ALIANZA COMERCIAL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967F33-A123-386E-BF36-6832A32EB0D5}"/>
              </a:ext>
            </a:extLst>
          </p:cNvPr>
          <p:cNvSpPr txBox="1"/>
          <p:nvPr/>
        </p:nvSpPr>
        <p:spPr>
          <a:xfrm>
            <a:off x="1016000" y="3746500"/>
            <a:ext cx="4699000" cy="2807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>
                <a:solidFill>
                  <a:srgbClr val="1A365D"/>
                </a:solidFill>
                <a:latin typeface="Segoe UI Light" panose="020B0502040204020203" pitchFamily="34" charset="0"/>
              </a:rPr>
              <a:t>Comision por cliente activo.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3CC1C8-ABB0-B961-5164-98F9E2AE493B}"/>
              </a:ext>
            </a:extLst>
          </p:cNvPr>
          <p:cNvSpPr/>
          <p:nvPr/>
        </p:nvSpPr>
        <p:spPr>
          <a:xfrm>
            <a:off x="1016000" y="4381500"/>
            <a:ext cx="381000" cy="381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CE191D-23C8-17F4-5C95-A579F85C2266}"/>
              </a:ext>
            </a:extLst>
          </p:cNvPr>
          <p:cNvSpPr txBox="1"/>
          <p:nvPr/>
        </p:nvSpPr>
        <p:spPr>
          <a:xfrm>
            <a:off x="1016000" y="4432300"/>
            <a:ext cx="38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DCC38C"/>
                </a:solidFill>
                <a:latin typeface="Segoe UI" panose="020B0502040204020203" pitchFamily="34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35EF0C-5031-539A-271A-5D63BD0080E0}"/>
              </a:ext>
            </a:extLst>
          </p:cNvPr>
          <p:cNvSpPr txBox="1"/>
          <p:nvPr/>
        </p:nvSpPr>
        <p:spPr>
          <a:xfrm>
            <a:off x="1524000" y="44450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D3748"/>
                </a:solidFill>
                <a:latin typeface="Segoe UI" panose="020B0502040204020203" pitchFamily="34" charset="0"/>
              </a:rPr>
              <a:t>Referido simple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36FC1A-FC2E-6C7A-E228-7D3D81E0D174}"/>
              </a:ext>
            </a:extLst>
          </p:cNvPr>
          <p:cNvSpPr txBox="1"/>
          <p:nvPr/>
        </p:nvSpPr>
        <p:spPr>
          <a:xfrm>
            <a:off x="4064000" y="44323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600" b="1">
                <a:solidFill>
                  <a:srgbClr val="C7A151"/>
                </a:solidFill>
                <a:latin typeface="Segoe UI" panose="020B0502040204020203" pitchFamily="34" charset="0"/>
              </a:rPr>
              <a:t>20%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011CB-5924-CDBF-4E80-15FECE084826}"/>
              </a:ext>
            </a:extLst>
          </p:cNvPr>
          <p:cNvSpPr/>
          <p:nvPr/>
        </p:nvSpPr>
        <p:spPr>
          <a:xfrm>
            <a:off x="1016000" y="4889500"/>
            <a:ext cx="381000" cy="381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B0C8B5-987B-D247-B6A5-EBCF9B2F9731}"/>
              </a:ext>
            </a:extLst>
          </p:cNvPr>
          <p:cNvSpPr txBox="1"/>
          <p:nvPr/>
        </p:nvSpPr>
        <p:spPr>
          <a:xfrm>
            <a:off x="1016000" y="4940300"/>
            <a:ext cx="38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DCC38C"/>
                </a:solidFill>
                <a:latin typeface="Segoe UI" panose="020B0502040204020203" pitchFamily="34" charset="0"/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8DCFA4-9C24-4932-9787-D3C3300083D3}"/>
              </a:ext>
            </a:extLst>
          </p:cNvPr>
          <p:cNvSpPr txBox="1"/>
          <p:nvPr/>
        </p:nvSpPr>
        <p:spPr>
          <a:xfrm>
            <a:off x="1524000" y="49530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D3748"/>
                </a:solidFill>
                <a:latin typeface="Segoe UI" panose="020B0502040204020203" pitchFamily="34" charset="0"/>
              </a:rPr>
              <a:t>Partner activo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CB08FE-815B-ABE1-5B29-4EB009CCA16F}"/>
              </a:ext>
            </a:extLst>
          </p:cNvPr>
          <p:cNvSpPr txBox="1"/>
          <p:nvPr/>
        </p:nvSpPr>
        <p:spPr>
          <a:xfrm>
            <a:off x="4064000" y="49403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600" b="1">
                <a:solidFill>
                  <a:srgbClr val="C7A151"/>
                </a:solidFill>
                <a:latin typeface="Segoe UI" panose="020B0502040204020203" pitchFamily="34" charset="0"/>
              </a:rPr>
              <a:t>30%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0D3A12-4BE0-AB40-F7C5-65D58C600B5B}"/>
              </a:ext>
            </a:extLst>
          </p:cNvPr>
          <p:cNvSpPr/>
          <p:nvPr/>
        </p:nvSpPr>
        <p:spPr>
          <a:xfrm>
            <a:off x="1016000" y="5397500"/>
            <a:ext cx="381000" cy="381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7170D6-0B59-B56E-65FB-F8251C8D1E0B}"/>
              </a:ext>
            </a:extLst>
          </p:cNvPr>
          <p:cNvSpPr txBox="1"/>
          <p:nvPr/>
        </p:nvSpPr>
        <p:spPr>
          <a:xfrm>
            <a:off x="1016000" y="5448300"/>
            <a:ext cx="38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DCC38C"/>
                </a:solidFill>
                <a:latin typeface="Segoe UI" panose="020B0502040204020203" pitchFamily="34" charset="0"/>
              </a:rPr>
              <a:t>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162431-706E-A6B1-EE4B-56FF33900AB0}"/>
              </a:ext>
            </a:extLst>
          </p:cNvPr>
          <p:cNvSpPr txBox="1"/>
          <p:nvPr/>
        </p:nvSpPr>
        <p:spPr>
          <a:xfrm>
            <a:off x="1524000" y="54610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D3748"/>
                </a:solidFill>
                <a:latin typeface="Segoe UI" panose="020B0502040204020203" pitchFamily="34" charset="0"/>
              </a:rPr>
              <a:t>Escalonado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5D9F25-10D9-1220-780B-F3E944EDF008}"/>
              </a:ext>
            </a:extLst>
          </p:cNvPr>
          <p:cNvSpPr txBox="1"/>
          <p:nvPr/>
        </p:nvSpPr>
        <p:spPr>
          <a:xfrm>
            <a:off x="4064000" y="54483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600" b="1">
                <a:solidFill>
                  <a:srgbClr val="C7A151"/>
                </a:solidFill>
                <a:latin typeface="Segoe UI" panose="020B0502040204020203" pitchFamily="34" charset="0"/>
              </a:rPr>
              <a:t>25-35%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1629EB-F0B2-054D-CC43-0BAB7F27AF29}"/>
              </a:ext>
            </a:extLst>
          </p:cNvPr>
          <p:cNvSpPr txBox="1"/>
          <p:nvPr/>
        </p:nvSpPr>
        <p:spPr>
          <a:xfrm>
            <a:off x="1016000" y="5969000"/>
            <a:ext cx="469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i="1">
                <a:solidFill>
                  <a:srgbClr val="718096"/>
                </a:solidFill>
                <a:latin typeface="Segoe UI" panose="020B0502040204020203" pitchFamily="34" charset="0"/>
              </a:rPr>
              <a:t>+ Setup 40%  Â·  Sin cesion de copyright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5FC4F8-C1AF-9BA0-3E62-20202A5FFC91}"/>
              </a:ext>
            </a:extLst>
          </p:cNvPr>
          <p:cNvSpPr/>
          <p:nvPr/>
        </p:nvSpPr>
        <p:spPr>
          <a:xfrm>
            <a:off x="6223000" y="3175000"/>
            <a:ext cx="5207000" cy="3048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229BD3-FF3B-A53F-95DF-989E29C41A2E}"/>
              </a:ext>
            </a:extLst>
          </p:cNvPr>
          <p:cNvSpPr/>
          <p:nvPr/>
        </p:nvSpPr>
        <p:spPr>
          <a:xfrm>
            <a:off x="6223000" y="3175000"/>
            <a:ext cx="5207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F60463-9CAF-CADA-0675-F364B5BE189D}"/>
              </a:ext>
            </a:extLst>
          </p:cNvPr>
          <p:cNvSpPr txBox="1"/>
          <p:nvPr/>
        </p:nvSpPr>
        <p:spPr>
          <a:xfrm>
            <a:off x="6477000" y="3429000"/>
            <a:ext cx="469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CC38C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7A271C-8B9E-BC68-B239-4AEF87AABABB}"/>
              </a:ext>
            </a:extLst>
          </p:cNvPr>
          <p:cNvSpPr txBox="1"/>
          <p:nvPr/>
        </p:nvSpPr>
        <p:spPr>
          <a:xfrm>
            <a:off x="6477000" y="3746500"/>
            <a:ext cx="4699000" cy="2807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>
                <a:solidFill>
                  <a:srgbClr val="FFFFFF"/>
                </a:solidFill>
                <a:latin typeface="Segoe UI Light" panose="020B0502040204020203" pitchFamily="34" charset="0"/>
              </a:rPr>
              <a:t>Evolucion en tres etapas.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00F771-B04F-ECF1-6872-CDEACCB5030A}"/>
              </a:ext>
            </a:extLst>
          </p:cNvPr>
          <p:cNvSpPr txBox="1"/>
          <p:nvPr/>
        </p:nvSpPr>
        <p:spPr>
          <a:xfrm>
            <a:off x="6477000" y="4381500"/>
            <a:ext cx="63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DCC38C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4DDD80-28D6-E5D9-EC30-3BA1285C4921}"/>
              </a:ext>
            </a:extLst>
          </p:cNvPr>
          <p:cNvSpPr txBox="1"/>
          <p:nvPr/>
        </p:nvSpPr>
        <p:spPr>
          <a:xfrm>
            <a:off x="7048500" y="43561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Piloto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EBA962-1550-2792-8DB3-64589A3FDD3E}"/>
              </a:ext>
            </a:extLst>
          </p:cNvPr>
          <p:cNvSpPr txBox="1"/>
          <p:nvPr/>
        </p:nvSpPr>
        <p:spPr>
          <a:xfrm>
            <a:off x="7048500" y="46101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FAF8F3"/>
                </a:solidFill>
                <a:latin typeface="Segoe UI" panose="020B0502040204020203" pitchFamily="34" charset="0"/>
              </a:rPr>
              <a:t>Lo que vendemos hoy. Funcional.</a:t>
            </a:r>
            <a:endParaRPr lang="en-US" sz="1000">
              <a:solidFill>
                <a:srgbClr val="FAF8F3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7D1FE6-20C5-4990-9095-19280133C46F}"/>
              </a:ext>
            </a:extLst>
          </p:cNvPr>
          <p:cNvSpPr txBox="1"/>
          <p:nvPr/>
        </p:nvSpPr>
        <p:spPr>
          <a:xfrm>
            <a:off x="6477000" y="4953000"/>
            <a:ext cx="63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DCC38C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C98058-A4C4-7B79-6D6B-C4A52615C890}"/>
              </a:ext>
            </a:extLst>
          </p:cNvPr>
          <p:cNvSpPr txBox="1"/>
          <p:nvPr/>
        </p:nvSpPr>
        <p:spPr>
          <a:xfrm>
            <a:off x="7048500" y="49276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Stripe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FBB2DF-07FB-8FAD-7026-3D129A59D36B}"/>
              </a:ext>
            </a:extLst>
          </p:cNvPr>
          <p:cNvSpPr txBox="1"/>
          <p:nvPr/>
        </p:nvSpPr>
        <p:spPr>
          <a:xfrm>
            <a:off x="7048500" y="5181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Donaciones online reales.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FB4DC1-E2CA-267D-C6B3-A11D027DEAD6}"/>
              </a:ext>
            </a:extLst>
          </p:cNvPr>
          <p:cNvSpPr txBox="1"/>
          <p:nvPr/>
        </p:nvSpPr>
        <p:spPr>
          <a:xfrm>
            <a:off x="6477000" y="5524500"/>
            <a:ext cx="63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DCC38C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00C2A-FE02-3462-E441-6FCF2D36EABD}"/>
              </a:ext>
            </a:extLst>
          </p:cNvPr>
          <p:cNvSpPr txBox="1"/>
          <p:nvPr/>
        </p:nvSpPr>
        <p:spPr>
          <a:xfrm>
            <a:off x="7048500" y="54991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Automation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E10FCC-53A7-AFC8-DE67-3A26CB9FF5E2}"/>
              </a:ext>
            </a:extLst>
          </p:cNvPr>
          <p:cNvSpPr txBox="1"/>
          <p:nvPr/>
        </p:nvSpPr>
        <p:spPr>
          <a:xfrm>
            <a:off x="7048500" y="57531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AF8F3"/>
                </a:solidFill>
                <a:latin typeface="Segoe UI" panose="020B0502040204020203" pitchFamily="34" charset="0"/>
              </a:rPr>
              <a:t>Email, PDF, estado anual.</a:t>
            </a:r>
          </a:p>
        </p:txBody>
      </p:sp>
    </p:spTree>
    <p:extLst>
      <p:ext uri="{BB962C8B-B14F-4D97-AF65-F5344CB8AC3E}">
        <p14:creationId xmlns:p14="http://schemas.microsoft.com/office/powerpoint/2010/main" val="2605052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1C036F-C417-6B55-8D55-9536433814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54BB4B-5A78-E3A4-E99A-550819E0C143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34153-FC4F-38CA-44D9-B9AEFBEA46F6}"/>
              </a:ext>
            </a:extLst>
          </p:cNvPr>
          <p:cNvSpPr txBox="1"/>
          <p:nvPr/>
        </p:nvSpPr>
        <p:spPr>
          <a:xfrm>
            <a:off x="762000" y="1143000"/>
            <a:ext cx="1066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C7A151"/>
                </a:solidFill>
                <a:latin typeface="Segoe UI" panose="020B0502040204020203" pitchFamily="34" charset="0"/>
              </a:rPr>
              <a:t>EL SIGUIENTE PASO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1851B-15CA-33B2-C7E6-BE3D6BF0D93F}"/>
              </a:ext>
            </a:extLst>
          </p:cNvPr>
          <p:cNvSpPr txBox="1"/>
          <p:nvPr/>
        </p:nvSpPr>
        <p:spPr>
          <a:xfrm>
            <a:off x="762000" y="2032000"/>
            <a:ext cx="10668000" cy="6309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4200" b="1">
                <a:solidFill>
                  <a:srgbClr val="FFFFFF"/>
                </a:solidFill>
                <a:latin typeface="Segoe UI Light" panose="020B0502040204020203" pitchFamily="34" charset="0"/>
              </a:rPr>
              <a:t>Tu iglesia merece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AE854-69BE-0E05-31B7-89A23D530519}"/>
              </a:ext>
            </a:extLst>
          </p:cNvPr>
          <p:cNvSpPr txBox="1"/>
          <p:nvPr/>
        </p:nvSpPr>
        <p:spPr>
          <a:xfrm>
            <a:off x="762000" y="2730500"/>
            <a:ext cx="10668000" cy="6309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4200" b="1">
                <a:solidFill>
                  <a:srgbClr val="FFFFFF"/>
                </a:solidFill>
                <a:latin typeface="Segoe UI Light" panose="020B0502040204020203" pitchFamily="34" charset="0"/>
              </a:rPr>
              <a:t>mas orden, mas claridad,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7602C-0244-2CC8-ADA4-EFE88F4F6B29}"/>
              </a:ext>
            </a:extLst>
          </p:cNvPr>
          <p:cNvSpPr txBox="1"/>
          <p:nvPr/>
        </p:nvSpPr>
        <p:spPr>
          <a:xfrm>
            <a:off x="762000" y="3429000"/>
            <a:ext cx="10668000" cy="6309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4200" i="1">
                <a:solidFill>
                  <a:srgbClr val="DCC38C"/>
                </a:solidFill>
                <a:latin typeface="Segoe UI Light" panose="020B0502040204020203" pitchFamily="34" charset="0"/>
              </a:rPr>
              <a:t>mas transparencia.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67BA6A-AD1D-079D-C174-1E32C1832CD9}"/>
              </a:ext>
            </a:extLst>
          </p:cNvPr>
          <p:cNvSpPr/>
          <p:nvPr/>
        </p:nvSpPr>
        <p:spPr>
          <a:xfrm>
            <a:off x="5588000" y="4572000"/>
            <a:ext cx="1016000" cy="50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E88E3-0CC0-5085-4BBB-A6E8E35686E4}"/>
              </a:ext>
            </a:extLst>
          </p:cNvPr>
          <p:cNvSpPr txBox="1"/>
          <p:nvPr/>
        </p:nvSpPr>
        <p:spPr>
          <a:xfrm>
            <a:off x="762000" y="4953000"/>
            <a:ext cx="10668000" cy="2680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FAF8F3"/>
                </a:solidFill>
                <a:latin typeface="Segoe UI" panose="020B0502040204020203" pitchFamily="34" charset="0"/>
              </a:rPr>
              <a:t>Agenda una demo de quince minutos.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806D6-7DC1-0278-1A47-6496DC21FAFE}"/>
              </a:ext>
            </a:extLst>
          </p:cNvPr>
          <p:cNvSpPr/>
          <p:nvPr/>
        </p:nvSpPr>
        <p:spPr>
          <a:xfrm>
            <a:off x="4826000" y="5461000"/>
            <a:ext cx="2540000" cy="558800"/>
          </a:xfrm>
          <a:prstGeom prst="rect">
            <a:avLst/>
          </a:prstGeom>
          <a:solidFill>
            <a:srgbClr val="C7A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A4E89-E950-FB2E-170E-6283CB17A5EF}"/>
              </a:ext>
            </a:extLst>
          </p:cNvPr>
          <p:cNvSpPr txBox="1"/>
          <p:nvPr/>
        </p:nvSpPr>
        <p:spPr>
          <a:xfrm>
            <a:off x="4826000" y="56134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D1E38"/>
                </a:solidFill>
                <a:latin typeface="Segoe UI" panose="020B0502040204020203" pitchFamily="34" charset="0"/>
              </a:rPr>
              <a:t>AGENDAR DEMO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0C868-DB01-6521-7095-DC7948665D77}"/>
              </a:ext>
            </a:extLst>
          </p:cNvPr>
          <p:cNvSpPr txBox="1"/>
          <p:nvPr/>
        </p:nvSpPr>
        <p:spPr>
          <a:xfrm>
            <a:off x="762000" y="6477000"/>
            <a:ext cx="1066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 b="1">
                <a:solidFill>
                  <a:srgbClr val="DCC38C"/>
                </a:solidFill>
                <a:latin typeface="Segoe UI" panose="020B0502040204020203" pitchFamily="34" charset="0"/>
              </a:rPr>
              <a:t>ORDEN  Â·  TRANSPARENCIA  Â·  GENEROSIDAD</a:t>
            </a:r>
            <a:endParaRPr lang="en-US" sz="900" b="1">
              <a:solidFill>
                <a:srgbClr val="DCC38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6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Custom</PresentationFormat>
  <Paragraphs>175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LEONEL ENRIQUE ALVARENGA CERON</dc:creator>
  <cp:lastModifiedBy>LEONEL ENRIQUE ALVARENGA CERON</cp:lastModifiedBy>
  <cp:revision>1</cp:revision>
  <dcterms:created xsi:type="dcterms:W3CDTF">2026-05-28T15:25:50Z</dcterms:created>
  <dcterms:modified xsi:type="dcterms:W3CDTF">2026-05-28T15:25:50Z</dcterms:modified>
</cp:coreProperties>
</file>